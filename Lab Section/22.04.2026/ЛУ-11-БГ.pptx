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Open Sauce Bold" charset="1" panose="00000800000000000000"/>
      <p:regular r:id="rId28"/>
    </p:embeddedFont>
    <p:embeddedFont>
      <p:font typeface="Archivo Black" charset="1" panose="020B0A03020202020B04"/>
      <p:regular r:id="rId29"/>
    </p:embeddedFont>
    <p:embeddedFont>
      <p:font typeface="Montserrat Classic Bold" charset="1" panose="00000800000000000000"/>
      <p:regular r:id="rId30"/>
    </p:embeddedFont>
    <p:embeddedFont>
      <p:font typeface="Montserrat Light" charset="1" panose="00000400000000000000"/>
      <p:regular r:id="rId31"/>
    </p:embeddedFont>
    <p:embeddedFont>
      <p:font typeface="Canva Sans Bold" charset="1" panose="020B0803030501040103"/>
      <p:regular r:id="rId32"/>
    </p:embeddedFont>
    <p:embeddedFont>
      <p:font typeface="Canva Sans" charset="1" panose="020B0503030501040103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.pn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.pn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.png" Type="http://schemas.openxmlformats.org/officeDocument/2006/relationships/image"/><Relationship Id="rId4" Target="../media/image7.jpeg" Type="http://schemas.openxmlformats.org/officeDocument/2006/relationships/image"/><Relationship Id="rId5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.png" Type="http://schemas.openxmlformats.org/officeDocument/2006/relationships/image"/><Relationship Id="rId4" Target="../media/image16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.png" Type="http://schemas.openxmlformats.org/officeDocument/2006/relationships/image"/><Relationship Id="rId4" Target="../media/image16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.png" Type="http://schemas.openxmlformats.org/officeDocument/2006/relationships/image"/><Relationship Id="rId4" Target="../media/image16.jpe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.png" Type="http://schemas.openxmlformats.org/officeDocument/2006/relationships/image"/><Relationship Id="rId4" Target="../media/image19.jpeg" Type="http://schemas.openxmlformats.org/officeDocument/2006/relationships/image"/><Relationship Id="rId5" Target="../media/image20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.png" Type="http://schemas.openxmlformats.org/officeDocument/2006/relationships/image"/><Relationship Id="rId4" Target="../media/image19.jpeg" Type="http://schemas.openxmlformats.org/officeDocument/2006/relationships/image"/><Relationship Id="rId5" Target="../media/image20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.png" Type="http://schemas.openxmlformats.org/officeDocument/2006/relationships/image"/><Relationship Id="rId4" Target="../media/image19.jpeg" Type="http://schemas.openxmlformats.org/officeDocument/2006/relationships/image"/><Relationship Id="rId5" Target="../media/image20.jpe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.png" Type="http://schemas.openxmlformats.org/officeDocument/2006/relationships/image"/><Relationship Id="rId4" Target="../media/image19.jpeg" Type="http://schemas.openxmlformats.org/officeDocument/2006/relationships/image"/><Relationship Id="rId5" Target="../media/image20.jpeg" Type="http://schemas.openxmlformats.org/officeDocument/2006/relationships/image"/><Relationship Id="rId6" Target="../media/image22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.png" Type="http://schemas.openxmlformats.org/officeDocument/2006/relationships/image"/><Relationship Id="rId4" Target="../media/image19.jpeg" Type="http://schemas.openxmlformats.org/officeDocument/2006/relationships/image"/><Relationship Id="rId5" Target="../media/image20.jpe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0.jpeg" Type="http://schemas.openxmlformats.org/officeDocument/2006/relationships/image"/><Relationship Id="rId4" Target="../media/image19.jpeg" Type="http://schemas.openxmlformats.org/officeDocument/2006/relationships/image"/><Relationship Id="rId5" Target="../media/image24.jpeg" Type="http://schemas.openxmlformats.org/officeDocument/2006/relationships/image"/><Relationship Id="rId6" Target="../media/image25.jpeg" Type="http://schemas.openxmlformats.org/officeDocument/2006/relationships/image"/><Relationship Id="rId7" Target="../media/image26.jpeg" Type="http://schemas.openxmlformats.org/officeDocument/2006/relationships/image"/><Relationship Id="rId8" Target="../media/image27.jpeg" Type="http://schemas.openxmlformats.org/officeDocument/2006/relationships/image"/><Relationship Id="rId9" Target="../media/image28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-18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521330">
            <a:off x="4522202" y="1734737"/>
            <a:ext cx="14167639" cy="7119239"/>
          </a:xfrm>
          <a:custGeom>
            <a:avLst/>
            <a:gdLst/>
            <a:ahLst/>
            <a:cxnLst/>
            <a:rect r="r" b="b" t="t" l="l"/>
            <a:pathLst>
              <a:path h="7119239" w="14167639">
                <a:moveTo>
                  <a:pt x="0" y="0"/>
                </a:moveTo>
                <a:lnTo>
                  <a:pt x="14167639" y="0"/>
                </a:lnTo>
                <a:lnTo>
                  <a:pt x="14167639" y="7119238"/>
                </a:lnTo>
                <a:lnTo>
                  <a:pt x="0" y="71192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589607" y="0"/>
            <a:ext cx="8698393" cy="10400373"/>
            <a:chOff x="0" y="0"/>
            <a:chExt cx="8603361" cy="102867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-2794" y="-127"/>
              <a:ext cx="8606155" cy="10286873"/>
            </a:xfrm>
            <a:custGeom>
              <a:avLst/>
              <a:gdLst/>
              <a:ahLst/>
              <a:cxnLst/>
              <a:rect r="r" b="b" t="t" l="l"/>
              <a:pathLst>
                <a:path h="10286873" w="8606155">
                  <a:moveTo>
                    <a:pt x="8606155" y="10251440"/>
                  </a:moveTo>
                  <a:cubicBezTo>
                    <a:pt x="8606155" y="10284587"/>
                    <a:pt x="8595487" y="10286873"/>
                    <a:pt x="8567674" y="10286873"/>
                  </a:cubicBezTo>
                  <a:cubicBezTo>
                    <a:pt x="5713095" y="10286238"/>
                    <a:pt x="2858643" y="10286238"/>
                    <a:pt x="4064" y="10286238"/>
                  </a:cubicBezTo>
                  <a:cubicBezTo>
                    <a:pt x="0" y="10272395"/>
                    <a:pt x="6350" y="10259822"/>
                    <a:pt x="9271" y="10246995"/>
                  </a:cubicBezTo>
                  <a:cubicBezTo>
                    <a:pt x="134747" y="9685401"/>
                    <a:pt x="260350" y="9123934"/>
                    <a:pt x="386207" y="8562467"/>
                  </a:cubicBezTo>
                  <a:cubicBezTo>
                    <a:pt x="565658" y="7761986"/>
                    <a:pt x="745490" y="6961632"/>
                    <a:pt x="924814" y="6161151"/>
                  </a:cubicBezTo>
                  <a:cubicBezTo>
                    <a:pt x="1146302" y="5172583"/>
                    <a:pt x="1367282" y="4184015"/>
                    <a:pt x="1588643" y="3195574"/>
                  </a:cubicBezTo>
                  <a:cubicBezTo>
                    <a:pt x="1813560" y="2191385"/>
                    <a:pt x="2038604" y="1187323"/>
                    <a:pt x="2264156" y="183261"/>
                  </a:cubicBezTo>
                  <a:cubicBezTo>
                    <a:pt x="2277872" y="122174"/>
                    <a:pt x="2286635" y="59690"/>
                    <a:pt x="2308860" y="635"/>
                  </a:cubicBezTo>
                  <a:cubicBezTo>
                    <a:pt x="4395216" y="635"/>
                    <a:pt x="6481572" y="635"/>
                    <a:pt x="8567928" y="0"/>
                  </a:cubicBezTo>
                  <a:cubicBezTo>
                    <a:pt x="8596249" y="0"/>
                    <a:pt x="8605901" y="3429"/>
                    <a:pt x="8605901" y="35814"/>
                  </a:cubicBezTo>
                  <a:cubicBezTo>
                    <a:pt x="8605139" y="3441065"/>
                    <a:pt x="8605139" y="6846316"/>
                    <a:pt x="8606155" y="10251440"/>
                  </a:cubicBezTo>
                  <a:close/>
                </a:path>
              </a:pathLst>
            </a:custGeom>
            <a:blipFill>
              <a:blip r:embed="rId4"/>
              <a:stretch>
                <a:fillRect l="-114498" t="-230" r="-2201" b="-2063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131145" y="2518213"/>
            <a:ext cx="10916923" cy="4226959"/>
            <a:chOff x="0" y="0"/>
            <a:chExt cx="2741688" cy="106156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41688" cy="1061563"/>
            </a:xfrm>
            <a:custGeom>
              <a:avLst/>
              <a:gdLst/>
              <a:ahLst/>
              <a:cxnLst/>
              <a:rect r="r" b="b" t="t" l="l"/>
              <a:pathLst>
                <a:path h="1061563" w="2741688">
                  <a:moveTo>
                    <a:pt x="35458" y="0"/>
                  </a:moveTo>
                  <a:lnTo>
                    <a:pt x="2706229" y="0"/>
                  </a:lnTo>
                  <a:cubicBezTo>
                    <a:pt x="2725812" y="0"/>
                    <a:pt x="2741688" y="15875"/>
                    <a:pt x="2741688" y="35458"/>
                  </a:cubicBezTo>
                  <a:lnTo>
                    <a:pt x="2741688" y="1026105"/>
                  </a:lnTo>
                  <a:cubicBezTo>
                    <a:pt x="2741688" y="1045688"/>
                    <a:pt x="2725812" y="1061563"/>
                    <a:pt x="2706229" y="1061563"/>
                  </a:cubicBezTo>
                  <a:lnTo>
                    <a:pt x="35458" y="1061563"/>
                  </a:lnTo>
                  <a:cubicBezTo>
                    <a:pt x="15875" y="1061563"/>
                    <a:pt x="0" y="1045688"/>
                    <a:pt x="0" y="1026105"/>
                  </a:cubicBezTo>
                  <a:lnTo>
                    <a:pt x="0" y="35458"/>
                  </a:lnTo>
                  <a:cubicBezTo>
                    <a:pt x="0" y="15875"/>
                    <a:pt x="15875" y="0"/>
                    <a:pt x="3545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741688" cy="1099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89"/>
                </a:lnSpc>
              </a:pPr>
              <a:r>
                <a:rPr lang="en-US" b="true" sz="4299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Работа с вход-изход. Текстови и двоични файлове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131145" y="2518213"/>
            <a:ext cx="10916923" cy="4226959"/>
          </a:xfrm>
          <a:custGeom>
            <a:avLst/>
            <a:gdLst/>
            <a:ahLst/>
            <a:cxnLst/>
            <a:rect r="r" b="b" t="t" l="l"/>
            <a:pathLst>
              <a:path h="4226959" w="10916923">
                <a:moveTo>
                  <a:pt x="0" y="0"/>
                </a:moveTo>
                <a:lnTo>
                  <a:pt x="10916923" y="0"/>
                </a:lnTo>
                <a:lnTo>
                  <a:pt x="10916923" y="4226959"/>
                </a:lnTo>
                <a:lnTo>
                  <a:pt x="0" y="42269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31683" t="-187363" r="-231683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5400000">
            <a:off x="8599743" y="-4717334"/>
            <a:ext cx="1088513" cy="18288000"/>
            <a:chOff x="0" y="0"/>
            <a:chExt cx="286687" cy="48165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6687" cy="4816592"/>
            </a:xfrm>
            <a:custGeom>
              <a:avLst/>
              <a:gdLst/>
              <a:ahLst/>
              <a:cxnLst/>
              <a:rect r="r" b="b" t="t" l="l"/>
              <a:pathLst>
                <a:path h="4816592" w="286687">
                  <a:moveTo>
                    <a:pt x="0" y="0"/>
                  </a:moveTo>
                  <a:lnTo>
                    <a:pt x="286687" y="0"/>
                  </a:lnTo>
                  <a:lnTo>
                    <a:pt x="286687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true">
              <a:gsLst>
                <a:gs pos="0">
                  <a:srgbClr val="696969">
                    <a:alpha val="72000"/>
                  </a:srgbClr>
                </a:gs>
                <a:gs pos="33333">
                  <a:srgbClr val="B4B4B4">
                    <a:alpha val="82500"/>
                  </a:srgbClr>
                </a:gs>
                <a:gs pos="66667">
                  <a:srgbClr val="EEEEEE">
                    <a:alpha val="70500"/>
                  </a:srgbClr>
                </a:gs>
                <a:gs pos="100000">
                  <a:srgbClr val="FBFBFB">
                    <a:alpha val="22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86687" cy="4835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7900" y="0"/>
            <a:ext cx="18270100" cy="4165455"/>
          </a:xfrm>
          <a:custGeom>
            <a:avLst/>
            <a:gdLst/>
            <a:ahLst/>
            <a:cxnLst/>
            <a:rect r="r" b="b" t="t" l="l"/>
            <a:pathLst>
              <a:path h="4165455" w="18270100">
                <a:moveTo>
                  <a:pt x="0" y="0"/>
                </a:moveTo>
                <a:lnTo>
                  <a:pt x="18270100" y="0"/>
                </a:lnTo>
                <a:lnTo>
                  <a:pt x="18270100" y="4165455"/>
                </a:lnTo>
                <a:lnTo>
                  <a:pt x="0" y="41654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0524" r="0" b="-101973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509980" y="1245935"/>
            <a:ext cx="7597567" cy="1407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14"/>
              </a:lnSpc>
            </a:pPr>
            <a:r>
              <a:rPr lang="en-US" sz="8271" spc="6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СЪДЪРЖАНИЕ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389388"/>
            <a:ext cx="1840320" cy="1048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627"/>
              </a:lnSpc>
              <a:spcBef>
                <a:spcPct val="0"/>
              </a:spcBef>
            </a:pPr>
            <a:r>
              <a:rPr lang="en-US" b="true" sz="6251" spc="331" strike="noStrike" u="none">
                <a:solidFill>
                  <a:srgbClr val="231F2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6034" y="5400058"/>
            <a:ext cx="2834852" cy="418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3"/>
              </a:lnSpc>
            </a:pPr>
            <a:r>
              <a:rPr lang="en-US" sz="2524" spc="247">
                <a:solidFill>
                  <a:srgbClr val="231F2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Какво е поток?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252778" y="4312366"/>
            <a:ext cx="1840320" cy="1048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627"/>
              </a:lnSpc>
              <a:spcBef>
                <a:spcPct val="0"/>
              </a:spcBef>
            </a:pPr>
            <a:r>
              <a:rPr lang="en-US" b="true" sz="6251" spc="331">
                <a:solidFill>
                  <a:srgbClr val="231F2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613421" y="5323036"/>
            <a:ext cx="5119033" cy="85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3"/>
              </a:lnSpc>
            </a:pPr>
            <a:r>
              <a:rPr lang="en-US" sz="2524" spc="247">
                <a:solidFill>
                  <a:srgbClr val="231F2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Затваряне на файл – fclose()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061586" y="4360589"/>
            <a:ext cx="1840320" cy="1048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627"/>
              </a:lnSpc>
              <a:spcBef>
                <a:spcPct val="0"/>
              </a:spcBef>
            </a:pPr>
            <a:r>
              <a:rPr lang="en-US" b="true" sz="6251" spc="331">
                <a:solidFill>
                  <a:srgbClr val="231F2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04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159600" y="5400058"/>
            <a:ext cx="3644290" cy="85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3"/>
              </a:lnSpc>
            </a:pPr>
            <a:r>
              <a:rPr lang="en-US" sz="2524" spc="247">
                <a:solidFill>
                  <a:srgbClr val="231F2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Функции от високо ниво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097634" y="5862987"/>
            <a:ext cx="1840320" cy="1048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627"/>
              </a:lnSpc>
              <a:spcBef>
                <a:spcPct val="0"/>
              </a:spcBef>
            </a:pPr>
            <a:r>
              <a:rPr lang="en-US" b="true" sz="6251" spc="331">
                <a:solidFill>
                  <a:srgbClr val="231F2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05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48860" y="6949805"/>
            <a:ext cx="4137868" cy="85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3"/>
              </a:lnSpc>
            </a:pPr>
            <a:r>
              <a:rPr lang="en-US" sz="2524" spc="247">
                <a:solidFill>
                  <a:srgbClr val="231F2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Четене и записване на двоични данни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617078" y="6065346"/>
            <a:ext cx="1840320" cy="1048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627"/>
              </a:lnSpc>
              <a:spcBef>
                <a:spcPct val="0"/>
              </a:spcBef>
            </a:pPr>
            <a:r>
              <a:rPr lang="en-US" b="true" sz="6251" spc="331">
                <a:solidFill>
                  <a:srgbClr val="231F2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06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943638" y="7123589"/>
            <a:ext cx="3213544" cy="85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3"/>
              </a:lnSpc>
            </a:pPr>
            <a:r>
              <a:rPr lang="en-US" sz="2524" spc="247">
                <a:solidFill>
                  <a:srgbClr val="231F2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Произволен достъп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157182" y="4312366"/>
            <a:ext cx="1840320" cy="1048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627"/>
              </a:lnSpc>
              <a:spcBef>
                <a:spcPct val="0"/>
              </a:spcBef>
            </a:pPr>
            <a:r>
              <a:rPr lang="en-US" b="true" sz="6251" spc="331">
                <a:solidFill>
                  <a:srgbClr val="231F2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03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856279" y="5371207"/>
            <a:ext cx="4931372" cy="85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3"/>
              </a:lnSpc>
            </a:pPr>
            <a:r>
              <a:rPr lang="en-US" sz="2524" spc="247">
                <a:solidFill>
                  <a:srgbClr val="231F2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Функции за четене/запис на байтове (знаци)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221266" y="6142368"/>
            <a:ext cx="1840320" cy="1048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627"/>
              </a:lnSpc>
              <a:spcBef>
                <a:spcPct val="0"/>
              </a:spcBef>
            </a:pPr>
            <a:r>
              <a:rPr lang="en-US" b="true" sz="6251" spc="331">
                <a:solidFill>
                  <a:srgbClr val="231F2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07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380896" y="7181561"/>
            <a:ext cx="3557408" cy="85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3"/>
              </a:lnSpc>
            </a:pPr>
            <a:r>
              <a:rPr lang="en-US" sz="2524" spc="247">
                <a:solidFill>
                  <a:srgbClr val="231F2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Преименуване на файл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776759" y="7865899"/>
            <a:ext cx="1840320" cy="1048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627"/>
              </a:lnSpc>
              <a:spcBef>
                <a:spcPct val="0"/>
              </a:spcBef>
            </a:pPr>
            <a:r>
              <a:rPr lang="en-US" b="true" sz="6251" spc="331">
                <a:solidFill>
                  <a:srgbClr val="231F2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08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937953" y="8924143"/>
            <a:ext cx="3557408" cy="85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3"/>
              </a:lnSpc>
            </a:pPr>
            <a:r>
              <a:rPr lang="en-US" sz="2524" spc="247">
                <a:solidFill>
                  <a:srgbClr val="231F2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Изтриване на файл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348879" y="7865899"/>
            <a:ext cx="1840320" cy="1048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627"/>
              </a:lnSpc>
              <a:spcBef>
                <a:spcPct val="0"/>
              </a:spcBef>
            </a:pPr>
            <a:r>
              <a:rPr lang="en-US" b="true" sz="6251" spc="331">
                <a:solidFill>
                  <a:srgbClr val="231F2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09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719223" y="8924143"/>
            <a:ext cx="3205485" cy="85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3"/>
              </a:lnSpc>
            </a:pPr>
            <a:r>
              <a:rPr lang="en-US" sz="2524" spc="247">
                <a:solidFill>
                  <a:srgbClr val="231F2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Бинарни файлове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925483">
            <a:off x="6834105" y="3640291"/>
            <a:ext cx="15026802" cy="1591351"/>
          </a:xfrm>
          <a:custGeom>
            <a:avLst/>
            <a:gdLst/>
            <a:ahLst/>
            <a:cxnLst/>
            <a:rect r="r" b="b" t="t" l="l"/>
            <a:pathLst>
              <a:path h="1591351" w="15026802">
                <a:moveTo>
                  <a:pt x="0" y="0"/>
                </a:moveTo>
                <a:lnTo>
                  <a:pt x="15026801" y="0"/>
                </a:lnTo>
                <a:lnTo>
                  <a:pt x="15026801" y="1591351"/>
                </a:lnTo>
                <a:lnTo>
                  <a:pt x="0" y="15913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6495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0624836" y="0"/>
            <a:ext cx="7663164" cy="8621060"/>
            <a:chOff x="0" y="0"/>
            <a:chExt cx="5370413" cy="6041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70413" cy="6041715"/>
            </a:xfrm>
            <a:custGeom>
              <a:avLst/>
              <a:gdLst/>
              <a:ahLst/>
              <a:cxnLst/>
              <a:rect r="r" b="b" t="t" l="l"/>
              <a:pathLst>
                <a:path h="6041715" w="5370413">
                  <a:moveTo>
                    <a:pt x="5370413" y="0"/>
                  </a:moveTo>
                  <a:lnTo>
                    <a:pt x="5370413" y="6041715"/>
                  </a:lnTo>
                  <a:cubicBezTo>
                    <a:pt x="3580275" y="4027810"/>
                    <a:pt x="1790138" y="2013905"/>
                    <a:pt x="0" y="0"/>
                  </a:cubicBezTo>
                  <a:lnTo>
                    <a:pt x="5370413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70413" cy="6041715"/>
            </a:xfrm>
            <a:custGeom>
              <a:avLst/>
              <a:gdLst/>
              <a:ahLst/>
              <a:cxnLst/>
              <a:rect r="r" b="b" t="t" l="l"/>
              <a:pathLst>
                <a:path h="6041715" w="5370413">
                  <a:moveTo>
                    <a:pt x="5370413" y="0"/>
                  </a:moveTo>
                  <a:lnTo>
                    <a:pt x="5370413" y="6041715"/>
                  </a:lnTo>
                  <a:cubicBezTo>
                    <a:pt x="3580275" y="4027810"/>
                    <a:pt x="1790138" y="2013905"/>
                    <a:pt x="0" y="0"/>
                  </a:cubicBezTo>
                  <a:lnTo>
                    <a:pt x="5370413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-3981626" y="0"/>
            <a:ext cx="22414171" cy="2258023"/>
            <a:chOff x="0" y="0"/>
            <a:chExt cx="2172559" cy="2188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72559" cy="218865"/>
            </a:xfrm>
            <a:custGeom>
              <a:avLst/>
              <a:gdLst/>
              <a:ahLst/>
              <a:cxnLst/>
              <a:rect r="r" b="b" t="t" l="l"/>
              <a:pathLst>
                <a:path h="218865" w="2172559">
                  <a:moveTo>
                    <a:pt x="1969359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2172559" y="218865"/>
                  </a:lnTo>
                  <a:lnTo>
                    <a:pt x="1969359" y="0"/>
                  </a:lnTo>
                  <a:close/>
                </a:path>
              </a:pathLst>
            </a:custGeom>
            <a:solidFill>
              <a:srgbClr val="010101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101600" y="-19050"/>
              <a:ext cx="1969359" cy="2379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0624836" y="0"/>
            <a:ext cx="7663164" cy="8621060"/>
            <a:chOff x="0" y="0"/>
            <a:chExt cx="5370413" cy="6041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70413" cy="6041715"/>
            </a:xfrm>
            <a:custGeom>
              <a:avLst/>
              <a:gdLst/>
              <a:ahLst/>
              <a:cxnLst/>
              <a:rect r="r" b="b" t="t" l="l"/>
              <a:pathLst>
                <a:path h="6041715" w="5370413">
                  <a:moveTo>
                    <a:pt x="5370413" y="0"/>
                  </a:moveTo>
                  <a:lnTo>
                    <a:pt x="5370413" y="6041715"/>
                  </a:lnTo>
                  <a:cubicBezTo>
                    <a:pt x="3580275" y="4027810"/>
                    <a:pt x="1790138" y="2013905"/>
                    <a:pt x="0" y="0"/>
                  </a:cubicBezTo>
                  <a:lnTo>
                    <a:pt x="5370413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70413" cy="6041715"/>
            </a:xfrm>
            <a:custGeom>
              <a:avLst/>
              <a:gdLst/>
              <a:ahLst/>
              <a:cxnLst/>
              <a:rect r="r" b="b" t="t" l="l"/>
              <a:pathLst>
                <a:path h="6041715" w="5370413">
                  <a:moveTo>
                    <a:pt x="5370413" y="0"/>
                  </a:moveTo>
                  <a:lnTo>
                    <a:pt x="5370413" y="6041715"/>
                  </a:lnTo>
                  <a:cubicBezTo>
                    <a:pt x="3580275" y="4027810"/>
                    <a:pt x="1790138" y="2013905"/>
                    <a:pt x="0" y="0"/>
                  </a:cubicBezTo>
                  <a:lnTo>
                    <a:pt x="5370413" y="0"/>
                  </a:lnTo>
                  <a:close/>
                </a:path>
              </a:pathLst>
            </a:custGeom>
            <a:blipFill>
              <a:blip r:embed="rId4"/>
              <a:stretch>
                <a:fillRect l="-34427" t="0" r="-34427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96830" y="2560373"/>
            <a:ext cx="12015833" cy="3496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5"/>
              </a:lnSpc>
            </a:pPr>
            <a:r>
              <a:rPr lang="en-US" sz="2211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Входно</a:t>
            </a:r>
            <a:r>
              <a:rPr lang="en-US" sz="22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/</a:t>
            </a:r>
            <a:r>
              <a:rPr lang="en-US" sz="2211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изходната </a:t>
            </a:r>
            <a:r>
              <a:rPr lang="en-US" sz="2211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система</a:t>
            </a:r>
            <a:r>
              <a:rPr lang="en-US" sz="22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на </a:t>
            </a:r>
            <a:r>
              <a:rPr lang="en-US" sz="2211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С</a:t>
            </a:r>
            <a:r>
              <a:rPr lang="en-US" sz="22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предоставя </a:t>
            </a:r>
            <a:r>
              <a:rPr lang="en-US" sz="2211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постоянен</a:t>
            </a:r>
            <a:r>
              <a:rPr lang="en-US" sz="22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211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интерфейс </a:t>
            </a:r>
            <a:r>
              <a:rPr lang="en-US" sz="22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на програмиста, който </a:t>
            </a:r>
            <a:r>
              <a:rPr lang="en-US" sz="2211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не зависи</a:t>
            </a:r>
            <a:r>
              <a:rPr lang="en-US" sz="22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от </a:t>
            </a:r>
            <a:r>
              <a:rPr lang="en-US" sz="2211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използваното устройство</a:t>
            </a:r>
            <a:r>
              <a:rPr lang="en-US" sz="22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 Това </a:t>
            </a:r>
            <a:r>
              <a:rPr lang="en-US" sz="2211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отделяне на хардуера</a:t>
            </a:r>
            <a:r>
              <a:rPr lang="en-US" sz="22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от </a:t>
            </a:r>
            <a:r>
              <a:rPr lang="en-US" sz="2211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софтуера </a:t>
            </a:r>
            <a:r>
              <a:rPr lang="en-US" sz="22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се нарича </a:t>
            </a:r>
            <a:r>
              <a:rPr lang="en-US" sz="2211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поток</a:t>
            </a:r>
            <a:r>
              <a:rPr lang="en-US" sz="22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а действително </a:t>
            </a:r>
            <a:r>
              <a:rPr lang="en-US" sz="2211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устройството </a:t>
            </a:r>
            <a:r>
              <a:rPr lang="en-US" sz="22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което </a:t>
            </a:r>
            <a:r>
              <a:rPr lang="en-US" sz="2211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извършва</a:t>
            </a:r>
            <a:r>
              <a:rPr lang="en-US" sz="22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211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вход/изход</a:t>
            </a:r>
            <a:r>
              <a:rPr lang="en-US" sz="22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се нарича </a:t>
            </a:r>
            <a:r>
              <a:rPr lang="en-US" sz="2211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файл</a:t>
            </a:r>
            <a:r>
              <a:rPr lang="en-US" sz="22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 </a:t>
            </a:r>
            <a:r>
              <a:rPr lang="en-US" sz="2211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Потокът </a:t>
            </a:r>
            <a:r>
              <a:rPr lang="en-US" sz="22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се явява </a:t>
            </a:r>
            <a:r>
              <a:rPr lang="en-US" sz="2211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логически интерфейс</a:t>
            </a:r>
            <a:r>
              <a:rPr lang="en-US" sz="22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към </a:t>
            </a:r>
            <a:r>
              <a:rPr lang="en-US" sz="2211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файла</a:t>
            </a:r>
            <a:r>
              <a:rPr lang="en-US" sz="22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 Така </a:t>
            </a:r>
            <a:r>
              <a:rPr lang="en-US" sz="2211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дефиниран в С</a:t>
            </a:r>
            <a:r>
              <a:rPr lang="en-US" sz="22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терминът </a:t>
            </a:r>
            <a:r>
              <a:rPr lang="en-US" sz="2211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файл </a:t>
            </a:r>
            <a:r>
              <a:rPr lang="en-US" sz="22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може да се отнася за </a:t>
            </a:r>
            <a:r>
              <a:rPr lang="en-US" sz="2211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дисков</a:t>
            </a:r>
            <a:r>
              <a:rPr lang="en-US" sz="22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</a:t>
            </a:r>
            <a:r>
              <a:rPr lang="en-US" sz="2211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екранен</a:t>
            </a:r>
            <a:r>
              <a:rPr lang="en-US" sz="22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</a:t>
            </a:r>
            <a:r>
              <a:rPr lang="en-US" sz="2211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лентов</a:t>
            </a:r>
            <a:r>
              <a:rPr lang="en-US" sz="22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</a:t>
            </a:r>
            <a:r>
              <a:rPr lang="en-US" sz="2211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клавиатурен </a:t>
            </a:r>
            <a:r>
              <a:rPr lang="en-US" sz="2211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файл </a:t>
            </a:r>
            <a:r>
              <a:rPr lang="en-US" sz="22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или такъв в </a:t>
            </a:r>
            <a:r>
              <a:rPr lang="en-US" sz="2211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паметта</a:t>
            </a:r>
            <a:r>
              <a:rPr lang="en-US" sz="22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но без значение от </a:t>
            </a:r>
            <a:r>
              <a:rPr lang="en-US" sz="2211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източника</a:t>
            </a:r>
            <a:r>
              <a:rPr lang="en-US" sz="22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</a:t>
            </a:r>
            <a:r>
              <a:rPr lang="en-US" sz="2211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формата </a:t>
            </a:r>
            <a:r>
              <a:rPr lang="en-US" sz="22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 </a:t>
            </a:r>
            <a:r>
              <a:rPr lang="en-US" sz="2211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възможностите </a:t>
            </a:r>
            <a:r>
              <a:rPr lang="en-US" sz="22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на </a:t>
            </a:r>
            <a:r>
              <a:rPr lang="en-US" sz="2211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файла </a:t>
            </a:r>
            <a:r>
              <a:rPr lang="en-US" sz="2211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потоците </a:t>
            </a:r>
            <a:r>
              <a:rPr lang="en-US" sz="22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са </a:t>
            </a:r>
            <a:r>
              <a:rPr lang="en-US" sz="2211" b="tru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еднакви </a:t>
            </a:r>
            <a:r>
              <a:rPr lang="en-US" sz="22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 </a:t>
            </a:r>
            <a:r>
              <a:rPr lang="en-US" sz="2211" b="tru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автоматично </a:t>
            </a:r>
            <a:r>
              <a:rPr lang="en-US" sz="22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се </a:t>
            </a:r>
            <a:r>
              <a:rPr lang="en-US" sz="2211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преодоляват </a:t>
            </a:r>
            <a:r>
              <a:rPr lang="en-US" sz="22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различията, което значи, че за </a:t>
            </a:r>
            <a:r>
              <a:rPr lang="en-US" sz="2211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програмиста </a:t>
            </a:r>
            <a:r>
              <a:rPr lang="en-US" sz="2211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хардуерните устройства </a:t>
            </a:r>
            <a:r>
              <a:rPr lang="en-US" sz="22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са </a:t>
            </a:r>
            <a:r>
              <a:rPr lang="en-US" sz="2211" b="tru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еднотипни</a:t>
            </a:r>
            <a:r>
              <a:rPr lang="en-US" sz="22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7368" y="602269"/>
            <a:ext cx="11552177" cy="948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05"/>
              </a:lnSpc>
              <a:spcBef>
                <a:spcPct val="0"/>
              </a:spcBef>
            </a:pPr>
            <a:r>
              <a:rPr lang="en-US" sz="5583" spc="4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КАКВО Е ПОТОК?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7368" y="6449207"/>
            <a:ext cx="12435260" cy="815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Потокът </a:t>
            </a: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се свързва с </a:t>
            </a:r>
            <a:r>
              <a:rPr lang="en-US" b="true" sz="2400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файл </a:t>
            </a: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чрез </a:t>
            </a:r>
            <a:r>
              <a:rPr lang="en-US" b="true" sz="2400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операция </a:t>
            </a: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за</a:t>
            </a:r>
            <a:r>
              <a:rPr lang="en-US" b="true" sz="24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4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отваряне</a:t>
            </a:r>
            <a:r>
              <a:rPr lang="en-US" b="true" sz="24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а </a:t>
            </a:r>
            <a:r>
              <a:rPr lang="en-US" b="true" sz="24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освобождаването</a:t>
            </a:r>
            <a:r>
              <a:rPr lang="en-US" b="true" sz="24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4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става</a:t>
            </a:r>
            <a:r>
              <a:rPr lang="en-US" b="true" sz="24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4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чрез</a:t>
            </a:r>
            <a:r>
              <a:rPr lang="en-US" b="true" sz="24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4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операция</a:t>
            </a:r>
            <a:r>
              <a:rPr lang="en-US" b="true" sz="24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4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за</a:t>
            </a:r>
            <a:r>
              <a:rPr lang="en-US" b="true" sz="24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4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затваряне</a:t>
            </a:r>
            <a:r>
              <a:rPr lang="en-US" b="true" sz="24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0" y="7674210"/>
            <a:ext cx="15427345" cy="1893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80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Има </a:t>
            </a:r>
            <a:r>
              <a:rPr lang="en-US" b="true" sz="2700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два типа</a:t>
            </a:r>
            <a:r>
              <a:rPr lang="en-US" b="true" sz="27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700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потоци</a:t>
            </a:r>
            <a:r>
              <a:rPr lang="en-US" b="true" sz="27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 </a:t>
            </a:r>
            <a:r>
              <a:rPr lang="en-US" b="true" sz="2700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текстов </a:t>
            </a:r>
            <a:r>
              <a:rPr lang="en-US" b="true" sz="27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 </a:t>
            </a:r>
            <a:r>
              <a:rPr lang="en-US" b="true" sz="2700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двоичен</a:t>
            </a:r>
            <a:r>
              <a:rPr lang="en-US" b="true" sz="27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 </a:t>
            </a:r>
            <a:r>
              <a:rPr lang="en-US" b="true" sz="2700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Текстовият поток</a:t>
            </a:r>
            <a:r>
              <a:rPr lang="en-US" b="true" sz="27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съдържа </a:t>
            </a:r>
            <a:r>
              <a:rPr lang="en-US" b="true" sz="27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</a:t>
            </a:r>
            <a:r>
              <a:rPr lang="en-US" b="true" sz="27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SCII знакове</a:t>
            </a:r>
            <a:r>
              <a:rPr lang="en-US" b="true" sz="27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докато </a:t>
            </a:r>
            <a:r>
              <a:rPr lang="en-US" b="true" sz="27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двоичният поток</a:t>
            </a:r>
            <a:r>
              <a:rPr lang="en-US" b="true" sz="27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може да се </a:t>
            </a:r>
            <a:r>
              <a:rPr lang="en-US" b="true" sz="27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използва</a:t>
            </a:r>
            <a:r>
              <a:rPr lang="en-US" b="true" sz="27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със </a:t>
            </a:r>
            <a:r>
              <a:rPr lang="en-US" b="true" sz="27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всякакъв тип данни</a:t>
            </a:r>
            <a:r>
              <a:rPr lang="en-US" b="true" sz="27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 Не се </a:t>
            </a:r>
            <a:r>
              <a:rPr lang="en-US" b="true" sz="27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извършват</a:t>
            </a:r>
            <a:r>
              <a:rPr lang="en-US" b="true" sz="27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7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никакви</a:t>
            </a:r>
            <a:r>
              <a:rPr lang="en-US" b="true" sz="27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7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знакови </a:t>
            </a:r>
            <a:r>
              <a:rPr lang="en-US" b="true" sz="27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преобразования </a:t>
            </a:r>
            <a:r>
              <a:rPr lang="en-US" b="true" sz="27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</a:t>
            </a:r>
            <a:r>
              <a:rPr lang="en-US" b="true" sz="27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7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предаването</a:t>
            </a:r>
            <a:r>
              <a:rPr lang="en-US" b="true" sz="27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7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на</a:t>
            </a:r>
            <a:r>
              <a:rPr lang="en-US" b="true" sz="27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7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информация</a:t>
            </a:r>
            <a:r>
              <a:rPr lang="en-US" b="true" sz="27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7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е </a:t>
            </a:r>
            <a:r>
              <a:rPr lang="en-US" b="true" sz="27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едно към едно</a:t>
            </a:r>
            <a:r>
              <a:rPr lang="en-US" b="true" sz="27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между </a:t>
            </a:r>
            <a:r>
              <a:rPr lang="en-US" b="true" sz="27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изпратеното от потока</a:t>
            </a:r>
            <a:r>
              <a:rPr lang="en-US" b="true" sz="27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и това което се </a:t>
            </a:r>
            <a:r>
              <a:rPr lang="en-US" b="true" sz="27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съдържа във файла</a:t>
            </a:r>
            <a:r>
              <a:rPr lang="en-US" b="true" sz="27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925483">
            <a:off x="6834105" y="3640291"/>
            <a:ext cx="15026802" cy="1591351"/>
          </a:xfrm>
          <a:custGeom>
            <a:avLst/>
            <a:gdLst/>
            <a:ahLst/>
            <a:cxnLst/>
            <a:rect r="r" b="b" t="t" l="l"/>
            <a:pathLst>
              <a:path h="1591351" w="15026802">
                <a:moveTo>
                  <a:pt x="0" y="0"/>
                </a:moveTo>
                <a:lnTo>
                  <a:pt x="15026801" y="0"/>
                </a:lnTo>
                <a:lnTo>
                  <a:pt x="15026801" y="1591351"/>
                </a:lnTo>
                <a:lnTo>
                  <a:pt x="0" y="15913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6495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0624836" y="0"/>
            <a:ext cx="7663164" cy="8621060"/>
            <a:chOff x="0" y="0"/>
            <a:chExt cx="5370413" cy="6041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70413" cy="6041715"/>
            </a:xfrm>
            <a:custGeom>
              <a:avLst/>
              <a:gdLst/>
              <a:ahLst/>
              <a:cxnLst/>
              <a:rect r="r" b="b" t="t" l="l"/>
              <a:pathLst>
                <a:path h="6041715" w="5370413">
                  <a:moveTo>
                    <a:pt x="5370413" y="0"/>
                  </a:moveTo>
                  <a:lnTo>
                    <a:pt x="5370413" y="6041715"/>
                  </a:lnTo>
                  <a:cubicBezTo>
                    <a:pt x="3580275" y="4027810"/>
                    <a:pt x="1790138" y="2013905"/>
                    <a:pt x="0" y="0"/>
                  </a:cubicBezTo>
                  <a:lnTo>
                    <a:pt x="5370413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70413" cy="6041715"/>
            </a:xfrm>
            <a:custGeom>
              <a:avLst/>
              <a:gdLst/>
              <a:ahLst/>
              <a:cxnLst/>
              <a:rect r="r" b="b" t="t" l="l"/>
              <a:pathLst>
                <a:path h="6041715" w="5370413">
                  <a:moveTo>
                    <a:pt x="5370413" y="0"/>
                  </a:moveTo>
                  <a:lnTo>
                    <a:pt x="5370413" y="6041715"/>
                  </a:lnTo>
                  <a:cubicBezTo>
                    <a:pt x="3580275" y="4027810"/>
                    <a:pt x="1790138" y="2013905"/>
                    <a:pt x="0" y="0"/>
                  </a:cubicBezTo>
                  <a:lnTo>
                    <a:pt x="5370413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-3981626" y="0"/>
            <a:ext cx="22414171" cy="2258023"/>
            <a:chOff x="0" y="0"/>
            <a:chExt cx="2172559" cy="2188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72559" cy="218865"/>
            </a:xfrm>
            <a:custGeom>
              <a:avLst/>
              <a:gdLst/>
              <a:ahLst/>
              <a:cxnLst/>
              <a:rect r="r" b="b" t="t" l="l"/>
              <a:pathLst>
                <a:path h="218865" w="2172559">
                  <a:moveTo>
                    <a:pt x="1969359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2172559" y="218865"/>
                  </a:lnTo>
                  <a:lnTo>
                    <a:pt x="1969359" y="0"/>
                  </a:lnTo>
                  <a:close/>
                </a:path>
              </a:pathLst>
            </a:custGeom>
            <a:solidFill>
              <a:srgbClr val="010101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101600" y="-19050"/>
              <a:ext cx="1969359" cy="2379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0624836" y="0"/>
            <a:ext cx="7663164" cy="8621060"/>
            <a:chOff x="0" y="0"/>
            <a:chExt cx="5370413" cy="6041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70413" cy="6041715"/>
            </a:xfrm>
            <a:custGeom>
              <a:avLst/>
              <a:gdLst/>
              <a:ahLst/>
              <a:cxnLst/>
              <a:rect r="r" b="b" t="t" l="l"/>
              <a:pathLst>
                <a:path h="6041715" w="5370413">
                  <a:moveTo>
                    <a:pt x="5370413" y="0"/>
                  </a:moveTo>
                  <a:lnTo>
                    <a:pt x="5370413" y="6041715"/>
                  </a:lnTo>
                  <a:cubicBezTo>
                    <a:pt x="3580275" y="4027810"/>
                    <a:pt x="1790138" y="2013905"/>
                    <a:pt x="0" y="0"/>
                  </a:cubicBezTo>
                  <a:lnTo>
                    <a:pt x="5370413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70413" cy="6041715"/>
            </a:xfrm>
            <a:custGeom>
              <a:avLst/>
              <a:gdLst/>
              <a:ahLst/>
              <a:cxnLst/>
              <a:rect r="r" b="b" t="t" l="l"/>
              <a:pathLst>
                <a:path h="6041715" w="5370413">
                  <a:moveTo>
                    <a:pt x="5370413" y="0"/>
                  </a:moveTo>
                  <a:lnTo>
                    <a:pt x="5370413" y="6041715"/>
                  </a:lnTo>
                  <a:cubicBezTo>
                    <a:pt x="3580275" y="4027810"/>
                    <a:pt x="1790138" y="2013905"/>
                    <a:pt x="0" y="0"/>
                  </a:cubicBezTo>
                  <a:lnTo>
                    <a:pt x="5370413" y="0"/>
                  </a:lnTo>
                  <a:close/>
                </a:path>
              </a:pathLst>
            </a:custGeom>
            <a:blipFill>
              <a:blip r:embed="rId4"/>
              <a:stretch>
                <a:fillRect l="-34427" t="0" r="-34427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33005" y="2346368"/>
            <a:ext cx="6142661" cy="430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1"/>
              </a:lnSpc>
            </a:pPr>
            <a:r>
              <a:rPr lang="en-US" sz="2557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Текущо местоположение на файла: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3005" y="501958"/>
            <a:ext cx="11198654" cy="948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05"/>
              </a:lnSpc>
              <a:spcBef>
                <a:spcPct val="0"/>
              </a:spcBef>
            </a:pPr>
            <a:r>
              <a:rPr lang="en-US" sz="5583" spc="4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КАКВО Е ПОТОК?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0" y="3121110"/>
            <a:ext cx="10260475" cy="1189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Ако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файла 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е голям </a:t>
            </a:r>
            <a:r>
              <a:rPr lang="en-US" b="true" sz="23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500</a:t>
            </a:r>
            <a:r>
              <a:rPr lang="en-US" b="true" sz="23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3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байта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и вече са 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прочетени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3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150</a:t>
            </a:r>
            <a:r>
              <a:rPr lang="en-US" b="true" sz="23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3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байта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следващият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оператор за четене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ще </a:t>
            </a:r>
            <a:r>
              <a:rPr lang="en-US" b="true" sz="23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започне от 151 байт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тоест от 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мястото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до </a:t>
            </a:r>
            <a:r>
              <a:rPr lang="en-US" b="true" sz="23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последната извършена с файла операция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3005" y="4653430"/>
            <a:ext cx="3722390" cy="430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1"/>
              </a:lnSpc>
            </a:pPr>
            <a:r>
              <a:rPr lang="en-US" sz="2557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Работа с файлове: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0" y="5285869"/>
            <a:ext cx="13945270" cy="198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20"/>
              </a:lnSpc>
              <a:spcBef>
                <a:spcPct val="0"/>
              </a:spcBef>
            </a:pP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З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а 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да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о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творите фай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л 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да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го </a:t>
            </a:r>
            <a:r>
              <a:rPr lang="en-US" b="true" sz="23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а</a:t>
            </a:r>
            <a:r>
              <a:rPr lang="en-US" b="true" sz="23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соци</a:t>
            </a:r>
            <a:r>
              <a:rPr lang="en-US" b="true" sz="23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</a:t>
            </a:r>
            <a:r>
              <a:rPr lang="en-US" b="true" sz="23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рат</a:t>
            </a:r>
            <a:r>
              <a:rPr lang="en-US" b="true" sz="23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е с</a:t>
            </a:r>
            <a:r>
              <a:rPr lang="en-US" b="true" sz="23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поток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из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по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лзвай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те </a:t>
            </a:r>
            <a:r>
              <a:rPr lang="en-US" b="true" sz="23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fopen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()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 </a:t>
            </a:r>
          </a:p>
          <a:p>
            <a:pPr algn="ctr" marL="0" indent="0" lvl="0">
              <a:lnSpc>
                <a:spcPts val="3220"/>
              </a:lnSpc>
              <a:spcBef>
                <a:spcPct val="0"/>
              </a:spcBef>
            </a:pP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FILE 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*</a:t>
            </a:r>
            <a:r>
              <a:rPr lang="en-US" b="true" sz="23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fopen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</a:t>
            </a:r>
            <a:r>
              <a:rPr lang="en-US" b="true" sz="23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char 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*</a:t>
            </a:r>
            <a:r>
              <a:rPr lang="en-US" b="true" sz="2300" strike="noStrike" u="non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име_на_файл</a:t>
            </a:r>
            <a:r>
              <a:rPr lang="en-US" b="true" sz="23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3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char 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*</a:t>
            </a:r>
            <a:r>
              <a:rPr lang="en-US" b="true" sz="2300" strike="noStrike" u="non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режим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);</a:t>
            </a:r>
          </a:p>
          <a:p>
            <a:pPr algn="ctr" marL="0" indent="0" lvl="0">
              <a:lnSpc>
                <a:spcPts val="3220"/>
              </a:lnSpc>
              <a:spcBef>
                <a:spcPct val="0"/>
              </a:spcBef>
            </a:pP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Функция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та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3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fopen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()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се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н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а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м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ра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в </a:t>
            </a:r>
            <a:r>
              <a:rPr lang="en-US" b="true" sz="2300" strike="noStrike" u="none">
                <a:solidFill>
                  <a:srgbClr val="00BF6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библио</a:t>
            </a:r>
            <a:r>
              <a:rPr lang="en-US" b="true" sz="2300" strike="noStrike" u="none">
                <a:solidFill>
                  <a:srgbClr val="00BF6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т</a:t>
            </a:r>
            <a:r>
              <a:rPr lang="en-US" b="true" sz="2300" strike="noStrike" u="none">
                <a:solidFill>
                  <a:srgbClr val="00BF6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е</a:t>
            </a:r>
            <a:r>
              <a:rPr lang="en-US" b="true" sz="2300" strike="noStrike" u="none">
                <a:solidFill>
                  <a:srgbClr val="00BF6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к</a:t>
            </a:r>
            <a:r>
              <a:rPr lang="en-US" b="true" sz="2300" strike="noStrike" u="none">
                <a:solidFill>
                  <a:srgbClr val="00BF6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ата </a:t>
            </a:r>
            <a:r>
              <a:rPr lang="en-US" b="true" sz="2300" strike="noStrike" u="none">
                <a:solidFill>
                  <a:srgbClr val="00BF6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STDIO.H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Им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ет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о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на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ф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ай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ла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и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то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чния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т 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пъ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т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д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о 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нег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о сед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ят в </a:t>
            </a:r>
            <a:r>
              <a:rPr lang="en-US" b="true" sz="2300" strike="noStrike" u="non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име_</a:t>
            </a:r>
            <a:r>
              <a:rPr lang="en-US" b="true" sz="2300" strike="noStrike" u="non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на</a:t>
            </a:r>
            <a:r>
              <a:rPr lang="en-US" b="true" sz="2300" strike="noStrike" u="non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_файл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 Тов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а 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ме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тряб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в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а д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а 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е </a:t>
            </a:r>
            <a:r>
              <a:rPr lang="en-US" b="true" sz="23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валидно</a:t>
            </a:r>
            <a:r>
              <a:rPr lang="en-US" b="true" sz="23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файл</a:t>
            </a:r>
            <a:r>
              <a:rPr lang="en-US" b="true" sz="23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ово име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к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а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кто е 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определено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от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3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операци</a:t>
            </a:r>
            <a:r>
              <a:rPr lang="en-US" b="true" sz="23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онната система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3005" y="7475459"/>
            <a:ext cx="1750822" cy="430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1"/>
              </a:lnSpc>
            </a:pPr>
            <a:r>
              <a:rPr lang="en-US" sz="2557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Режим: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52825" y="8105835"/>
            <a:ext cx="16515107" cy="198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</a:t>
            </a:r>
            <a:r>
              <a:rPr lang="en-US" sz="23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– Отв</a:t>
            </a:r>
            <a:r>
              <a:rPr lang="en-US" sz="23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а</a:t>
            </a:r>
            <a:r>
              <a:rPr lang="en-US" sz="23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р</a:t>
            </a:r>
            <a:r>
              <a:rPr lang="en-US" sz="23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я </a:t>
            </a:r>
            <a:r>
              <a:rPr lang="en-US" b="true" sz="2300" strike="noStrike" u="non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те</a:t>
            </a:r>
            <a:r>
              <a:rPr lang="en-US" b="true" sz="2300" strike="noStrike" u="non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кстов</a:t>
            </a:r>
            <a:r>
              <a:rPr lang="en-US" b="true" sz="2300" strike="noStrike" u="non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файл</a:t>
            </a:r>
            <a:r>
              <a:rPr lang="en-US" sz="23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за 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че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тене </a:t>
            </a:r>
          </a:p>
          <a:p>
            <a:pPr algn="l" marL="0" indent="0" lvl="0">
              <a:lnSpc>
                <a:spcPts val="3220"/>
              </a:lnSpc>
              <a:spcBef>
                <a:spcPct val="0"/>
              </a:spcBef>
            </a:pP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</a:t>
            </a:r>
            <a:r>
              <a:rPr lang="en-US" sz="23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3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–</a:t>
            </a:r>
            <a:r>
              <a:rPr lang="en-US" sz="23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Съз</a:t>
            </a:r>
            <a:r>
              <a:rPr lang="en-US" sz="23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да</a:t>
            </a:r>
            <a:r>
              <a:rPr lang="en-US" sz="23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ва</a:t>
            </a:r>
            <a:r>
              <a:rPr lang="en-US" sz="23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b="true" sz="2300" strike="noStrike" u="non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текстов файл</a:t>
            </a:r>
            <a:r>
              <a:rPr lang="en-US" sz="23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3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за</a:t>
            </a:r>
            <a:r>
              <a:rPr lang="en-US" sz="23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b="true" sz="23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писане</a:t>
            </a:r>
          </a:p>
          <a:p>
            <a:pPr algn="l" marL="0" indent="0" lvl="0">
              <a:lnSpc>
                <a:spcPts val="3220"/>
              </a:lnSpc>
              <a:spcBef>
                <a:spcPct val="0"/>
              </a:spcBef>
            </a:pP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</a:t>
            </a:r>
            <a:r>
              <a:rPr lang="en-US" sz="23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3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–</a:t>
            </a:r>
            <a:r>
              <a:rPr lang="en-US" sz="23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добавя към </a:t>
            </a:r>
            <a:r>
              <a:rPr lang="en-US" b="true" sz="2300" strike="noStrike" u="non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тек</a:t>
            </a:r>
            <a:r>
              <a:rPr lang="en-US" b="true" sz="2300" strike="noStrike" u="non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с</a:t>
            </a:r>
            <a:r>
              <a:rPr lang="en-US" b="true" sz="2300" strike="noStrike" u="non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то</a:t>
            </a:r>
            <a:r>
              <a:rPr lang="en-US" b="true" sz="2300" strike="noStrike" u="non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в</a:t>
            </a:r>
            <a:r>
              <a:rPr lang="en-US" b="true" sz="2300" strike="noStrike" u="non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файл</a:t>
            </a:r>
            <a:r>
              <a:rPr lang="en-US" sz="23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</a:t>
            </a:r>
            <a:r>
              <a:rPr lang="en-US" sz="23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като ако 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не същест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ву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в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а</a:t>
            </a:r>
            <a:r>
              <a:rPr lang="en-US" sz="23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3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го </a:t>
            </a:r>
            <a:r>
              <a:rPr lang="en-US" b="true" sz="23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създ</a:t>
            </a:r>
            <a:r>
              <a:rPr lang="en-US" b="true" sz="23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ава </a:t>
            </a:r>
          </a:p>
          <a:p>
            <a:pPr algn="l" marL="0" indent="0" lvl="0">
              <a:lnSpc>
                <a:spcPts val="3220"/>
              </a:lnSpc>
              <a:spcBef>
                <a:spcPct val="0"/>
              </a:spcBef>
            </a:pP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rb/wb/ab</a:t>
            </a:r>
            <a:r>
              <a:rPr lang="en-US" sz="23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пр</a:t>
            </a:r>
            <a:r>
              <a:rPr lang="en-US" sz="23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ави горните </a:t>
            </a:r>
            <a:r>
              <a:rPr lang="en-US" sz="23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опе</a:t>
            </a:r>
            <a:r>
              <a:rPr lang="en-US" sz="23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ра</a:t>
            </a:r>
            <a:r>
              <a:rPr lang="en-US" sz="23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ции</a:t>
            </a:r>
            <a:r>
              <a:rPr lang="en-US" sz="23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3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но з</a:t>
            </a:r>
            <a:r>
              <a:rPr lang="en-US" sz="23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а </a:t>
            </a:r>
            <a:r>
              <a:rPr lang="en-US" b="true" sz="2300" strike="noStrike" u="non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дв</a:t>
            </a:r>
            <a:r>
              <a:rPr lang="en-US" b="true" sz="2300" strike="noStrike" u="non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о</a:t>
            </a:r>
            <a:r>
              <a:rPr lang="en-US" b="true" sz="2300" strike="noStrike" u="non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</a:t>
            </a:r>
            <a:r>
              <a:rPr lang="en-US" b="true" sz="2300" strike="noStrike" u="non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че</a:t>
            </a:r>
            <a:r>
              <a:rPr lang="en-US" b="true" sz="2300" strike="noStrike" u="non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 файл</a:t>
            </a:r>
            <a:r>
              <a:rPr lang="en-US" sz="23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3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</a:t>
            </a:r>
            <a:r>
              <a:rPr lang="en-US" b="true" sz="2300" strike="noStrike" u="non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б</a:t>
            </a:r>
            <a:r>
              <a:rPr lang="en-US" b="true" sz="2300" strike="noStrike" u="non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</a:t>
            </a:r>
            <a:r>
              <a:rPr lang="en-US" b="true" sz="2300" strike="noStrike" u="non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</a:t>
            </a:r>
            <a:r>
              <a:rPr lang="en-US" b="true" sz="2300" strike="noStrike" u="non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арен</a:t>
            </a:r>
            <a:r>
              <a:rPr lang="en-US" sz="23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)</a:t>
            </a:r>
            <a:r>
              <a:rPr lang="en-US" sz="23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l" marL="0" indent="0" lvl="0">
              <a:lnSpc>
                <a:spcPts val="3220"/>
              </a:lnSpc>
              <a:spcBef>
                <a:spcPct val="0"/>
              </a:spcBef>
            </a:pP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r+</a:t>
            </a:r>
            <a:r>
              <a:rPr lang="en-US" sz="23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-</a:t>
            </a:r>
            <a:r>
              <a:rPr lang="en-US" sz="23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от</a:t>
            </a:r>
            <a:r>
              <a:rPr lang="en-US" sz="23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варя</a:t>
            </a:r>
            <a:r>
              <a:rPr lang="en-US" sz="23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b="true" sz="2300" strike="noStrike" u="non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тексто</a:t>
            </a:r>
            <a:r>
              <a:rPr lang="en-US" b="true" sz="2300" strike="noStrike" u="non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в ф</a:t>
            </a:r>
            <a:r>
              <a:rPr lang="en-US" b="true" sz="2300" strike="noStrike" u="non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а</a:t>
            </a:r>
            <a:r>
              <a:rPr lang="en-US" b="true" sz="2300" strike="noStrike" u="non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йл</a:t>
            </a:r>
            <a:r>
              <a:rPr lang="en-US" sz="23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з</a:t>
            </a:r>
            <a:r>
              <a:rPr lang="en-US" sz="23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а 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че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те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не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/</a:t>
            </a:r>
            <a:r>
              <a:rPr lang="en-US" b="true" sz="23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з</a:t>
            </a:r>
            <a:r>
              <a:rPr lang="en-US" b="true" sz="23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а</a:t>
            </a:r>
            <a:r>
              <a:rPr lang="en-US" b="true" sz="23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пис</a:t>
            </a:r>
          </a:p>
        </p:txBody>
      </p:sp>
      <p:sp>
        <p:nvSpPr>
          <p:cNvPr name="AutoShape 20" id="20"/>
          <p:cNvSpPr/>
          <p:nvPr/>
        </p:nvSpPr>
        <p:spPr>
          <a:xfrm flipV="true">
            <a:off x="-162472" y="4435966"/>
            <a:ext cx="14732264" cy="326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flipV="true">
            <a:off x="-162472" y="7504034"/>
            <a:ext cx="1742177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925483">
            <a:off x="6834105" y="3640291"/>
            <a:ext cx="15026802" cy="1591351"/>
          </a:xfrm>
          <a:custGeom>
            <a:avLst/>
            <a:gdLst/>
            <a:ahLst/>
            <a:cxnLst/>
            <a:rect r="r" b="b" t="t" l="l"/>
            <a:pathLst>
              <a:path h="1591351" w="15026802">
                <a:moveTo>
                  <a:pt x="0" y="0"/>
                </a:moveTo>
                <a:lnTo>
                  <a:pt x="15026801" y="0"/>
                </a:lnTo>
                <a:lnTo>
                  <a:pt x="15026801" y="1591351"/>
                </a:lnTo>
                <a:lnTo>
                  <a:pt x="0" y="15913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6495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0624836" y="0"/>
            <a:ext cx="7663164" cy="8621060"/>
            <a:chOff x="0" y="0"/>
            <a:chExt cx="5370413" cy="6041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70413" cy="6041715"/>
            </a:xfrm>
            <a:custGeom>
              <a:avLst/>
              <a:gdLst/>
              <a:ahLst/>
              <a:cxnLst/>
              <a:rect r="r" b="b" t="t" l="l"/>
              <a:pathLst>
                <a:path h="6041715" w="5370413">
                  <a:moveTo>
                    <a:pt x="5370413" y="0"/>
                  </a:moveTo>
                  <a:lnTo>
                    <a:pt x="5370413" y="6041715"/>
                  </a:lnTo>
                  <a:cubicBezTo>
                    <a:pt x="3580275" y="4027810"/>
                    <a:pt x="1790138" y="2013905"/>
                    <a:pt x="0" y="0"/>
                  </a:cubicBezTo>
                  <a:lnTo>
                    <a:pt x="5370413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70413" cy="6041715"/>
            </a:xfrm>
            <a:custGeom>
              <a:avLst/>
              <a:gdLst/>
              <a:ahLst/>
              <a:cxnLst/>
              <a:rect r="r" b="b" t="t" l="l"/>
              <a:pathLst>
                <a:path h="6041715" w="5370413">
                  <a:moveTo>
                    <a:pt x="5370413" y="0"/>
                  </a:moveTo>
                  <a:lnTo>
                    <a:pt x="5370413" y="6041715"/>
                  </a:lnTo>
                  <a:cubicBezTo>
                    <a:pt x="3580275" y="4027810"/>
                    <a:pt x="1790138" y="2013905"/>
                    <a:pt x="0" y="0"/>
                  </a:cubicBezTo>
                  <a:lnTo>
                    <a:pt x="5370413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-3981626" y="0"/>
            <a:ext cx="22414171" cy="2258023"/>
            <a:chOff x="0" y="0"/>
            <a:chExt cx="2172559" cy="2188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72559" cy="218865"/>
            </a:xfrm>
            <a:custGeom>
              <a:avLst/>
              <a:gdLst/>
              <a:ahLst/>
              <a:cxnLst/>
              <a:rect r="r" b="b" t="t" l="l"/>
              <a:pathLst>
                <a:path h="218865" w="2172559">
                  <a:moveTo>
                    <a:pt x="1969359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2172559" y="218865"/>
                  </a:lnTo>
                  <a:lnTo>
                    <a:pt x="1969359" y="0"/>
                  </a:lnTo>
                  <a:close/>
                </a:path>
              </a:pathLst>
            </a:custGeom>
            <a:solidFill>
              <a:srgbClr val="010101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101600" y="-19050"/>
              <a:ext cx="1969359" cy="2379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0624836" y="0"/>
            <a:ext cx="7663164" cy="8621060"/>
            <a:chOff x="0" y="0"/>
            <a:chExt cx="5370413" cy="6041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70413" cy="6041715"/>
            </a:xfrm>
            <a:custGeom>
              <a:avLst/>
              <a:gdLst/>
              <a:ahLst/>
              <a:cxnLst/>
              <a:rect r="r" b="b" t="t" l="l"/>
              <a:pathLst>
                <a:path h="6041715" w="5370413">
                  <a:moveTo>
                    <a:pt x="5370413" y="0"/>
                  </a:moveTo>
                  <a:lnTo>
                    <a:pt x="5370413" y="6041715"/>
                  </a:lnTo>
                  <a:cubicBezTo>
                    <a:pt x="3580275" y="4027810"/>
                    <a:pt x="1790138" y="2013905"/>
                    <a:pt x="0" y="0"/>
                  </a:cubicBezTo>
                  <a:lnTo>
                    <a:pt x="5370413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70413" cy="6041715"/>
            </a:xfrm>
            <a:custGeom>
              <a:avLst/>
              <a:gdLst/>
              <a:ahLst/>
              <a:cxnLst/>
              <a:rect r="r" b="b" t="t" l="l"/>
              <a:pathLst>
                <a:path h="6041715" w="5370413">
                  <a:moveTo>
                    <a:pt x="5370413" y="0"/>
                  </a:moveTo>
                  <a:lnTo>
                    <a:pt x="5370413" y="6041715"/>
                  </a:lnTo>
                  <a:cubicBezTo>
                    <a:pt x="3580275" y="4027810"/>
                    <a:pt x="1790138" y="2013905"/>
                    <a:pt x="0" y="0"/>
                  </a:cubicBezTo>
                  <a:lnTo>
                    <a:pt x="5370413" y="0"/>
                  </a:lnTo>
                  <a:close/>
                </a:path>
              </a:pathLst>
            </a:custGeom>
            <a:blipFill>
              <a:blip r:embed="rId4"/>
              <a:stretch>
                <a:fillRect l="-34427" t="0" r="-34427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52825" y="3017300"/>
            <a:ext cx="11798944" cy="238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w+</a:t>
            </a: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– </a:t>
            </a:r>
            <a:r>
              <a:rPr lang="en-US" b="true" sz="2300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Създава </a:t>
            </a:r>
            <a:r>
              <a:rPr lang="en-US" b="true" sz="2300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текстов</a:t>
            </a:r>
            <a:r>
              <a:rPr lang="en-US" b="true" sz="2300" strike="noStrike" u="non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файл</a:t>
            </a:r>
            <a:r>
              <a:rPr lang="en-US" sz="23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з</a:t>
            </a:r>
            <a:r>
              <a:rPr lang="en-US" sz="23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а 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ч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е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тене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/</a:t>
            </a:r>
            <a:r>
              <a:rPr lang="en-US" b="true" sz="23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запис</a:t>
            </a:r>
          </a:p>
          <a:p>
            <a:pPr algn="l" marL="0" indent="0" lvl="0">
              <a:lnSpc>
                <a:spcPts val="3220"/>
              </a:lnSpc>
              <a:spcBef>
                <a:spcPct val="0"/>
              </a:spcBef>
            </a:pP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а+ </a:t>
            </a:r>
            <a:r>
              <a:rPr lang="en-US" sz="23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-</a:t>
            </a:r>
            <a:r>
              <a:rPr lang="en-US" b="true" sz="23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д</a:t>
            </a:r>
            <a:r>
              <a:rPr lang="en-US" b="true" sz="23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о</a:t>
            </a:r>
            <a:r>
              <a:rPr lang="en-US" b="true" sz="23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бав</a:t>
            </a:r>
            <a:r>
              <a:rPr lang="en-US" b="true" sz="23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я</a:t>
            </a:r>
            <a:r>
              <a:rPr lang="en-US" sz="23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къ</a:t>
            </a:r>
            <a:r>
              <a:rPr lang="en-US" sz="23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м </a:t>
            </a:r>
            <a:r>
              <a:rPr lang="en-US" sz="23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или 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създава </a:t>
            </a:r>
            <a:r>
              <a:rPr lang="en-US" b="true" sz="2300" strike="noStrike" u="non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текстов</a:t>
            </a:r>
            <a:r>
              <a:rPr lang="en-US" b="true" sz="2300" strike="noStrike" u="non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фай</a:t>
            </a:r>
            <a:r>
              <a:rPr lang="en-US" b="true" sz="2300" strike="noStrike" u="non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л </a:t>
            </a:r>
            <a:r>
              <a:rPr lang="en-US" sz="23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за 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че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т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ене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/</a:t>
            </a:r>
            <a:r>
              <a:rPr lang="en-US" b="true" sz="23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з</a:t>
            </a:r>
            <a:r>
              <a:rPr lang="en-US" b="true" sz="23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а</a:t>
            </a:r>
            <a:r>
              <a:rPr lang="en-US" b="true" sz="23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</a:t>
            </a:r>
            <a:r>
              <a:rPr lang="en-US" b="true" sz="23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</a:t>
            </a:r>
            <a:r>
              <a:rPr lang="en-US" b="true" sz="23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с</a:t>
            </a:r>
          </a:p>
          <a:p>
            <a:pPr algn="l" marL="0" indent="0" lvl="0">
              <a:lnSpc>
                <a:spcPts val="3220"/>
              </a:lnSpc>
              <a:spcBef>
                <a:spcPct val="0"/>
              </a:spcBef>
            </a:pP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r+b</a:t>
            </a:r>
            <a:r>
              <a:rPr lang="en-US" sz="23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3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– 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От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в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аря </a:t>
            </a:r>
            <a:r>
              <a:rPr lang="en-US" b="true" sz="2300" strike="noStrike" u="non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двои</a:t>
            </a:r>
            <a:r>
              <a:rPr lang="en-US" b="true" sz="2300" strike="noStrike" u="non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че</a:t>
            </a:r>
            <a:r>
              <a:rPr lang="en-US" b="true" sz="2300" strike="noStrike" u="non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 файл</a:t>
            </a:r>
            <a:r>
              <a:rPr lang="en-US" sz="23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3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з</a:t>
            </a:r>
            <a:r>
              <a:rPr lang="en-US" sz="23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а 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четене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/</a:t>
            </a:r>
            <a:r>
              <a:rPr lang="en-US" b="true" sz="23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запис</a:t>
            </a:r>
            <a:r>
              <a:rPr lang="en-US" sz="23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 Можете да 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използвате</a:t>
            </a:r>
            <a:r>
              <a:rPr lang="en-US" sz="23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и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rb+</a:t>
            </a:r>
            <a:r>
              <a:rPr lang="en-US" sz="23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l" marL="0" indent="0" lvl="0">
              <a:lnSpc>
                <a:spcPts val="3220"/>
              </a:lnSpc>
              <a:spcBef>
                <a:spcPct val="0"/>
              </a:spcBef>
            </a:pP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w+b </a:t>
            </a:r>
            <a:r>
              <a:rPr lang="en-US" sz="23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– 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Създава </a:t>
            </a:r>
            <a:r>
              <a:rPr lang="en-US" b="true" sz="2300" strike="noStrike" u="non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двоичен файл</a:t>
            </a:r>
            <a:r>
              <a:rPr lang="en-US" sz="23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за четене/запис. Можете да използвате и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wb+</a:t>
            </a:r>
          </a:p>
          <a:p>
            <a:pPr algn="l" marL="0" indent="0" lvl="0">
              <a:lnSpc>
                <a:spcPts val="3220"/>
              </a:lnSpc>
              <a:spcBef>
                <a:spcPct val="0"/>
              </a:spcBef>
            </a:pP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а+b</a:t>
            </a:r>
            <a:r>
              <a:rPr lang="en-US" sz="23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– 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Добавя </a:t>
            </a:r>
            <a:r>
              <a:rPr lang="en-US" sz="23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към или създава двоичен файл за четене/запис. Можете да използвате и 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аb+</a:t>
            </a:r>
          </a:p>
        </p:txBody>
      </p:sp>
      <p:sp>
        <p:nvSpPr>
          <p:cNvPr name="AutoShape 14" id="14"/>
          <p:cNvSpPr/>
          <p:nvPr/>
        </p:nvSpPr>
        <p:spPr>
          <a:xfrm flipV="true">
            <a:off x="-148875" y="5406936"/>
            <a:ext cx="15630293" cy="5422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-98094" y="7182292"/>
            <a:ext cx="1718054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7327732" y="7667298"/>
            <a:ext cx="9162634" cy="2164672"/>
          </a:xfrm>
          <a:custGeom>
            <a:avLst/>
            <a:gdLst/>
            <a:ahLst/>
            <a:cxnLst/>
            <a:rect r="r" b="b" t="t" l="l"/>
            <a:pathLst>
              <a:path h="2164672" w="9162634">
                <a:moveTo>
                  <a:pt x="0" y="0"/>
                </a:moveTo>
                <a:lnTo>
                  <a:pt x="9162634" y="0"/>
                </a:lnTo>
                <a:lnTo>
                  <a:pt x="9162634" y="2164673"/>
                </a:lnTo>
                <a:lnTo>
                  <a:pt x="0" y="21646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33005" y="2346368"/>
            <a:ext cx="2240315" cy="430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1"/>
              </a:lnSpc>
            </a:pPr>
            <a:r>
              <a:rPr lang="en-US" sz="2557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Режим: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3005" y="501958"/>
            <a:ext cx="11198654" cy="948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05"/>
              </a:lnSpc>
              <a:spcBef>
                <a:spcPct val="0"/>
              </a:spcBef>
            </a:pPr>
            <a:r>
              <a:rPr lang="en-US" sz="5583" spc="4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КАКВО Е ПОТОК?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73221" y="5645061"/>
            <a:ext cx="13904478" cy="1189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Ако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операцият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а </a:t>
            </a:r>
            <a:r>
              <a:rPr lang="en-US" b="true" sz="23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fopen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() 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е 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валидна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се връщ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а </a:t>
            </a:r>
            <a:r>
              <a:rPr lang="en-US" b="true" sz="23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валиден файлов ук</a:t>
            </a:r>
            <a:r>
              <a:rPr lang="en-US" b="true" sz="23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аза</a:t>
            </a:r>
            <a:r>
              <a:rPr lang="en-US" b="true" sz="23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тел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 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Никога не бив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а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д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а 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пр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оменяте </a:t>
            </a:r>
            <a:r>
              <a:rPr lang="en-US" b="true" sz="23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т</a:t>
            </a:r>
            <a:r>
              <a:rPr lang="en-US" b="true" sz="23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ози ук</a:t>
            </a:r>
            <a:r>
              <a:rPr lang="en-US" b="true" sz="23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азател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или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3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обект</a:t>
            </a:r>
            <a:r>
              <a:rPr lang="en-US" b="true" sz="23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а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с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оче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 от него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  <a:p>
            <a:pPr algn="l" marL="0" indent="0" lvl="0">
              <a:lnSpc>
                <a:spcPts val="3220"/>
              </a:lnSpc>
              <a:spcBef>
                <a:spcPct val="0"/>
              </a:spcBef>
            </a:pP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Ако </a:t>
            </a:r>
            <a:r>
              <a:rPr lang="en-US" b="true" sz="23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fopen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()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не успе</a:t>
            </a:r>
            <a:r>
              <a:rPr lang="en-US" b="true" sz="23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е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да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3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от</a:t>
            </a:r>
            <a:r>
              <a:rPr lang="en-US" b="true" sz="23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вори ф</a:t>
            </a:r>
            <a:r>
              <a:rPr lang="en-US" b="true" sz="23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а</a:t>
            </a:r>
            <a:r>
              <a:rPr lang="en-US" b="true" sz="23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йл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се връщ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а </a:t>
            </a:r>
            <a:r>
              <a:rPr lang="en-US" b="true" sz="2300" strike="noStrike" u="non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нулев указ</a:t>
            </a:r>
            <a:r>
              <a:rPr lang="en-US" b="true" sz="2300" strike="noStrike" u="non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ател</a:t>
            </a:r>
            <a:r>
              <a:rPr lang="en-US" b="true" sz="23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52825" y="7221569"/>
            <a:ext cx="6756578" cy="295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1"/>
              </a:lnSpc>
            </a:pPr>
            <a:r>
              <a:rPr lang="en-US" sz="2136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Особеност</a:t>
            </a:r>
            <a:r>
              <a:rPr lang="en-US" sz="213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на </a:t>
            </a:r>
            <a:r>
              <a:rPr lang="en-US" sz="2136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режимите за работа</a:t>
            </a:r>
            <a:r>
              <a:rPr lang="en-US" sz="213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е, че ако </a:t>
            </a:r>
            <a:r>
              <a:rPr lang="en-US" sz="2136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имате файл</a:t>
            </a:r>
            <a:r>
              <a:rPr lang="en-US" sz="213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и го </a:t>
            </a:r>
            <a:r>
              <a:rPr lang="en-US" sz="2136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отворите</a:t>
            </a:r>
            <a:r>
              <a:rPr lang="en-US" sz="213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с </a:t>
            </a:r>
            <a:r>
              <a:rPr lang="en-US" sz="2136" b="tru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</a:t>
            </a:r>
            <a:r>
              <a:rPr lang="en-US" sz="213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то </a:t>
            </a:r>
            <a:r>
              <a:rPr lang="en-US" sz="2136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файла ще бъде</a:t>
            </a:r>
          </a:p>
          <a:p>
            <a:pPr algn="ctr" marL="0" indent="0" lvl="0">
              <a:lnSpc>
                <a:spcPts val="2991"/>
              </a:lnSpc>
              <a:spcBef>
                <a:spcPct val="0"/>
              </a:spcBef>
            </a:pPr>
            <a:r>
              <a:rPr lang="en-US" b="true" sz="2136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изтрит </a:t>
            </a:r>
            <a:r>
              <a:rPr lang="en-US" b="true" sz="213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 ще </a:t>
            </a:r>
            <a:r>
              <a:rPr lang="en-US" b="true" sz="2136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започне записването</a:t>
            </a:r>
            <a:r>
              <a:rPr lang="en-US" b="true" sz="213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136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отначало</a:t>
            </a:r>
            <a:r>
              <a:rPr lang="en-US" b="true" sz="213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в </a:t>
            </a:r>
            <a:r>
              <a:rPr lang="en-US" b="true" sz="2136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този файл</a:t>
            </a:r>
            <a:r>
              <a:rPr lang="en-US" b="true" sz="213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 Ако </a:t>
            </a:r>
            <a:r>
              <a:rPr lang="en-US" b="true" sz="2136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използвате </a:t>
            </a:r>
            <a:r>
              <a:rPr lang="en-US" b="true" sz="2136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r+ </a:t>
            </a:r>
            <a:r>
              <a:rPr lang="en-US" b="true" sz="213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няма да</a:t>
            </a:r>
            <a:r>
              <a:rPr lang="en-US" b="true" sz="2136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136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създаде</a:t>
            </a:r>
            <a:r>
              <a:rPr lang="en-US" b="true" sz="2136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136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файл</a:t>
            </a:r>
            <a:r>
              <a:rPr lang="en-US" b="true" sz="2136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</a:t>
            </a:r>
            <a:r>
              <a:rPr lang="en-US" b="true" sz="2136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136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ако</a:t>
            </a:r>
            <a:r>
              <a:rPr lang="en-US" b="true" sz="2136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136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той</a:t>
            </a:r>
            <a:r>
              <a:rPr lang="en-US" b="true" sz="2136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136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не</a:t>
            </a:r>
            <a:r>
              <a:rPr lang="en-US" b="true" sz="2136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136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съществува</a:t>
            </a:r>
            <a:r>
              <a:rPr lang="en-US" b="true" sz="2136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</a:t>
            </a:r>
            <a:r>
              <a:rPr lang="en-US" b="true" sz="2136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отварянето на файл</a:t>
            </a:r>
            <a:r>
              <a:rPr lang="en-US" b="true" sz="2136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с </a:t>
            </a:r>
            <a:r>
              <a:rPr lang="en-US" b="true" sz="2136" strike="noStrike" u="non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w+</a:t>
            </a:r>
            <a:r>
              <a:rPr lang="en-US" b="true" sz="2136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136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отново би изтрило старото съдържание на файла</a:t>
            </a:r>
            <a:r>
              <a:rPr lang="en-US" b="true" sz="2136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1111" r="0" b="-61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38225" y="1028700"/>
            <a:ext cx="16230600" cy="8585980"/>
            <a:chOff x="0" y="0"/>
            <a:chExt cx="4274726" cy="22613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261328"/>
            </a:xfrm>
            <a:custGeom>
              <a:avLst/>
              <a:gdLst/>
              <a:ahLst/>
              <a:cxnLst/>
              <a:rect r="r" b="b" t="t" l="l"/>
              <a:pathLst>
                <a:path h="2261328" w="4274726">
                  <a:moveTo>
                    <a:pt x="11925" y="0"/>
                  </a:moveTo>
                  <a:lnTo>
                    <a:pt x="4262801" y="0"/>
                  </a:lnTo>
                  <a:cubicBezTo>
                    <a:pt x="4269387" y="0"/>
                    <a:pt x="4274726" y="5339"/>
                    <a:pt x="4274726" y="11925"/>
                  </a:cubicBezTo>
                  <a:lnTo>
                    <a:pt x="4274726" y="2249403"/>
                  </a:lnTo>
                  <a:cubicBezTo>
                    <a:pt x="4274726" y="2255989"/>
                    <a:pt x="4269387" y="2261328"/>
                    <a:pt x="4262801" y="2261328"/>
                  </a:cubicBezTo>
                  <a:lnTo>
                    <a:pt x="11925" y="2261328"/>
                  </a:lnTo>
                  <a:cubicBezTo>
                    <a:pt x="5339" y="2261328"/>
                    <a:pt x="0" y="2255989"/>
                    <a:pt x="0" y="2249403"/>
                  </a:cubicBezTo>
                  <a:lnTo>
                    <a:pt x="0" y="11925"/>
                  </a:lnTo>
                  <a:cubicBezTo>
                    <a:pt x="0" y="5339"/>
                    <a:pt x="5339" y="0"/>
                    <a:pt x="11925" y="0"/>
                  </a:cubicBezTo>
                  <a:close/>
                </a:path>
              </a:pathLst>
            </a:custGeom>
            <a:solidFill>
              <a:srgbClr val="FFFFFF">
                <a:alpha val="86667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4274726" cy="22803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882753" y="1222989"/>
            <a:ext cx="12522494" cy="815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48"/>
              </a:lnSpc>
              <a:spcBef>
                <a:spcPct val="0"/>
              </a:spcBef>
            </a:pPr>
            <a:r>
              <a:rPr lang="en-US" sz="4745" spc="37">
                <a:solidFill>
                  <a:srgbClr val="010101"/>
                </a:solidFill>
                <a:latin typeface="Archivo Black"/>
                <a:ea typeface="Archivo Black"/>
                <a:cs typeface="Archivo Black"/>
                <a:sym typeface="Archivo Black"/>
              </a:rPr>
              <a:t>ЗАТВАРЯНЕ НА ФАЙЛ – FCLOSE()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88555" y="2405816"/>
            <a:ext cx="14823637" cy="469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4"/>
              </a:lnSpc>
            </a:pPr>
            <a:r>
              <a:rPr lang="en-US" sz="2960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 </a:t>
            </a:r>
            <a:r>
              <a:rPr lang="en-US" sz="296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fclose</a:t>
            </a:r>
            <a:r>
              <a:rPr lang="en-US" sz="2960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</a:t>
            </a:r>
            <a:r>
              <a:rPr lang="en-US" sz="296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FILE</a:t>
            </a:r>
            <a:r>
              <a:rPr lang="en-US" sz="296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960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*</a:t>
            </a:r>
            <a:r>
              <a:rPr lang="en-US" sz="296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fp</a:t>
            </a:r>
            <a:r>
              <a:rPr lang="en-US" sz="2960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);</a:t>
            </a:r>
          </a:p>
          <a:p>
            <a:pPr algn="ctr">
              <a:lnSpc>
                <a:spcPts val="4144"/>
              </a:lnSpc>
            </a:pPr>
          </a:p>
          <a:p>
            <a:pPr algn="ctr" marL="0" indent="0" lvl="0">
              <a:lnSpc>
                <a:spcPts val="4144"/>
              </a:lnSpc>
              <a:spcBef>
                <a:spcPct val="0"/>
              </a:spcBef>
            </a:pPr>
            <a:r>
              <a:rPr lang="en-US" b="true" sz="296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Използвайки </a:t>
            </a:r>
            <a:r>
              <a:rPr lang="en-US" b="true" sz="2960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този оператор</a:t>
            </a:r>
            <a:r>
              <a:rPr lang="en-US" b="true" sz="296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960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премахвате асоциацията</a:t>
            </a:r>
            <a:r>
              <a:rPr lang="en-US" b="true" sz="296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между</a:t>
            </a:r>
            <a:r>
              <a:rPr lang="en-US" b="true" sz="2960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потока</a:t>
            </a:r>
            <a:r>
              <a:rPr lang="en-US" b="true" sz="296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и</a:t>
            </a:r>
            <a:r>
              <a:rPr lang="en-US" b="true" sz="296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960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файла</a:t>
            </a:r>
            <a:r>
              <a:rPr lang="en-US" b="true" sz="296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 </a:t>
            </a:r>
            <a:r>
              <a:rPr lang="en-US" b="true" sz="2960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Информацията</a:t>
            </a:r>
            <a:r>
              <a:rPr lang="en-US" b="true" sz="296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в</a:t>
            </a:r>
            <a:r>
              <a:rPr lang="en-US" b="true" sz="296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960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системите</a:t>
            </a:r>
            <a:r>
              <a:rPr lang="en-US" b="true" sz="296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се</a:t>
            </a:r>
            <a:r>
              <a:rPr lang="en-US" b="true" sz="296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960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съхранява на сектори</a:t>
            </a:r>
            <a:r>
              <a:rPr lang="en-US" b="true" sz="296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</a:t>
            </a:r>
            <a:r>
              <a:rPr lang="en-US" b="true" sz="296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и до</a:t>
            </a:r>
            <a:r>
              <a:rPr lang="en-US" b="true" sz="296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96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запълване</a:t>
            </a:r>
            <a:r>
              <a:rPr lang="en-US" b="true" sz="296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на </a:t>
            </a:r>
            <a:r>
              <a:rPr lang="en-US" b="true" sz="296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нужното количество данни</a:t>
            </a:r>
            <a:r>
              <a:rPr lang="en-US" b="true" sz="296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за </a:t>
            </a:r>
            <a:r>
              <a:rPr lang="en-US" b="true" sz="296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запис на сектор информацията</a:t>
            </a:r>
            <a:r>
              <a:rPr lang="en-US" b="true" sz="296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се </a:t>
            </a:r>
            <a:r>
              <a:rPr lang="en-US" b="true" sz="296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складира в буфер</a:t>
            </a:r>
            <a:r>
              <a:rPr lang="en-US" b="true" sz="296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 Чрез </a:t>
            </a:r>
            <a:r>
              <a:rPr lang="en-US" b="true" sz="296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използване </a:t>
            </a:r>
            <a:r>
              <a:rPr lang="en-US" b="true" sz="296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на </a:t>
            </a:r>
            <a:r>
              <a:rPr lang="en-US" b="true" sz="296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fclose</a:t>
            </a:r>
            <a:r>
              <a:rPr lang="en-US" b="true" sz="296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()</a:t>
            </a:r>
            <a:r>
              <a:rPr lang="en-US" b="true" sz="296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96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автоматично се записва</a:t>
            </a:r>
            <a:r>
              <a:rPr lang="en-US" b="true" sz="296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96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информацията от буфера</a:t>
            </a:r>
            <a:r>
              <a:rPr lang="en-US" b="true" sz="296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върху</a:t>
            </a:r>
            <a:r>
              <a:rPr lang="en-US" b="true" sz="296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96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сектора</a:t>
            </a:r>
            <a:r>
              <a:rPr lang="en-US" b="true" sz="296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от </a:t>
            </a:r>
            <a:r>
              <a:rPr lang="en-US" b="true" sz="296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файла</a:t>
            </a:r>
            <a:r>
              <a:rPr lang="en-US" b="true" sz="296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 </a:t>
            </a:r>
            <a:r>
              <a:rPr lang="en-US" b="true" sz="296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Функцията </a:t>
            </a:r>
            <a:r>
              <a:rPr lang="en-US" b="true" sz="296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fclose</a:t>
            </a:r>
            <a:r>
              <a:rPr lang="en-US" b="true" sz="296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()</a:t>
            </a:r>
            <a:r>
              <a:rPr lang="en-US" b="true" sz="296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връща </a:t>
            </a:r>
            <a:r>
              <a:rPr lang="en-US" b="true" sz="2960" strike="noStrike" u="non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нула</a:t>
            </a:r>
            <a:r>
              <a:rPr lang="en-US" b="true" sz="296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ако</a:t>
            </a:r>
            <a:r>
              <a:rPr lang="en-US" b="true" sz="296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операцията е успешна</a:t>
            </a:r>
            <a:r>
              <a:rPr lang="en-US" b="true" sz="296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</a:t>
            </a:r>
            <a:r>
              <a:rPr lang="en-US" b="true" sz="296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а</a:t>
            </a:r>
            <a:r>
              <a:rPr lang="en-US" b="true" sz="296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ако се </a:t>
            </a:r>
            <a:r>
              <a:rPr lang="en-US" b="true" sz="296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появи грешка</a:t>
            </a:r>
            <a:r>
              <a:rPr lang="en-US" b="true" sz="296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връща </a:t>
            </a:r>
            <a:r>
              <a:rPr lang="en-US" b="true" sz="296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EOF</a:t>
            </a:r>
            <a:r>
              <a:rPr lang="en-US" b="true" sz="296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88555" y="7783772"/>
            <a:ext cx="14903211" cy="1180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b="true" sz="3399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Забележка: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Не затварянето на файл може да има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фатални последици,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такива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като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загуба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на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информация.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1111" r="0" b="-61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38225" y="1028700"/>
            <a:ext cx="16230600" cy="8585980"/>
            <a:chOff x="0" y="0"/>
            <a:chExt cx="4274726" cy="22613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261328"/>
            </a:xfrm>
            <a:custGeom>
              <a:avLst/>
              <a:gdLst/>
              <a:ahLst/>
              <a:cxnLst/>
              <a:rect r="r" b="b" t="t" l="l"/>
              <a:pathLst>
                <a:path h="2261328" w="4274726">
                  <a:moveTo>
                    <a:pt x="11925" y="0"/>
                  </a:moveTo>
                  <a:lnTo>
                    <a:pt x="4262801" y="0"/>
                  </a:lnTo>
                  <a:cubicBezTo>
                    <a:pt x="4269387" y="0"/>
                    <a:pt x="4274726" y="5339"/>
                    <a:pt x="4274726" y="11925"/>
                  </a:cubicBezTo>
                  <a:lnTo>
                    <a:pt x="4274726" y="2249403"/>
                  </a:lnTo>
                  <a:cubicBezTo>
                    <a:pt x="4274726" y="2255989"/>
                    <a:pt x="4269387" y="2261328"/>
                    <a:pt x="4262801" y="2261328"/>
                  </a:cubicBezTo>
                  <a:lnTo>
                    <a:pt x="11925" y="2261328"/>
                  </a:lnTo>
                  <a:cubicBezTo>
                    <a:pt x="5339" y="2261328"/>
                    <a:pt x="0" y="2255989"/>
                    <a:pt x="0" y="2249403"/>
                  </a:cubicBezTo>
                  <a:lnTo>
                    <a:pt x="0" y="11925"/>
                  </a:lnTo>
                  <a:cubicBezTo>
                    <a:pt x="0" y="5339"/>
                    <a:pt x="5339" y="0"/>
                    <a:pt x="11925" y="0"/>
                  </a:cubicBezTo>
                  <a:close/>
                </a:path>
              </a:pathLst>
            </a:custGeom>
            <a:solidFill>
              <a:srgbClr val="FFFFFF">
                <a:alpha val="86667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4274726" cy="22803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42180" y="2677444"/>
            <a:ext cx="6614482" cy="6732298"/>
          </a:xfrm>
          <a:custGeom>
            <a:avLst/>
            <a:gdLst/>
            <a:ahLst/>
            <a:cxnLst/>
            <a:rect r="r" b="b" t="t" l="l"/>
            <a:pathLst>
              <a:path h="6732298" w="6614482">
                <a:moveTo>
                  <a:pt x="0" y="0"/>
                </a:moveTo>
                <a:lnTo>
                  <a:pt x="6614483" y="0"/>
                </a:lnTo>
                <a:lnTo>
                  <a:pt x="6614483" y="6732297"/>
                </a:lnTo>
                <a:lnTo>
                  <a:pt x="0" y="67322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878177" y="3351738"/>
            <a:ext cx="6562073" cy="6058003"/>
          </a:xfrm>
          <a:custGeom>
            <a:avLst/>
            <a:gdLst/>
            <a:ahLst/>
            <a:cxnLst/>
            <a:rect r="r" b="b" t="t" l="l"/>
            <a:pathLst>
              <a:path h="6058003" w="6562073">
                <a:moveTo>
                  <a:pt x="0" y="0"/>
                </a:moveTo>
                <a:lnTo>
                  <a:pt x="6562073" y="0"/>
                </a:lnTo>
                <a:lnTo>
                  <a:pt x="6562073" y="6058003"/>
                </a:lnTo>
                <a:lnTo>
                  <a:pt x="0" y="60580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470770" y="1310024"/>
            <a:ext cx="13365510" cy="688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82"/>
              </a:lnSpc>
              <a:spcBef>
                <a:spcPct val="0"/>
              </a:spcBef>
            </a:pPr>
            <a:r>
              <a:rPr lang="en-US" sz="4045" spc="32">
                <a:solidFill>
                  <a:srgbClr val="010101"/>
                </a:solidFill>
                <a:latin typeface="Archivo Black"/>
                <a:ea typeface="Archivo Black"/>
                <a:cs typeface="Archivo Black"/>
                <a:sym typeface="Archivo Black"/>
              </a:rPr>
              <a:t>ФУНКЦИИ ЗА ЧЕТЕНЕ/ЗАПИС НА БАЙТОВЕ (ЗНАЦИ)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939664" y="2126974"/>
            <a:ext cx="12184610" cy="1053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46"/>
              </a:lnSpc>
              <a:spcBef>
                <a:spcPct val="0"/>
              </a:spcBef>
            </a:pPr>
            <a:r>
              <a:rPr lang="en-US" b="true" sz="2033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 </a:t>
            </a:r>
            <a:r>
              <a:rPr lang="en-US" b="true" sz="203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fgetc</a:t>
            </a:r>
            <a:r>
              <a:rPr lang="en-US" b="true" sz="2033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</a:t>
            </a:r>
            <a:r>
              <a:rPr lang="en-US" b="true" sz="203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FILE</a:t>
            </a:r>
            <a:r>
              <a:rPr lang="en-US" b="true" sz="203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033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*</a:t>
            </a:r>
            <a:r>
              <a:rPr lang="en-US" b="true" sz="203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fp</a:t>
            </a:r>
            <a:r>
              <a:rPr lang="en-US" b="true" sz="2033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);</a:t>
            </a:r>
            <a:r>
              <a:rPr lang="en-US" b="true" sz="203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033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-&gt;</a:t>
            </a:r>
            <a:r>
              <a:rPr lang="en-US" b="true" sz="203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А</a:t>
            </a:r>
            <a:r>
              <a:rPr lang="en-US" b="true" sz="203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ко</a:t>
            </a:r>
            <a:r>
              <a:rPr lang="en-US" b="true" sz="203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033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не успее</a:t>
            </a:r>
            <a:r>
              <a:rPr lang="en-US" b="true" sz="203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033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да прочете</a:t>
            </a:r>
            <a:r>
              <a:rPr lang="en-US" b="true" sz="203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след</a:t>
            </a:r>
            <a:r>
              <a:rPr lang="en-US" b="true" sz="203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ващия</a:t>
            </a:r>
            <a:r>
              <a:rPr lang="en-US" b="true" sz="203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033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би</a:t>
            </a:r>
            <a:r>
              <a:rPr lang="en-US" b="true" sz="2033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т </a:t>
            </a:r>
            <a:r>
              <a:rPr lang="en-US" b="true" sz="2033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връща</a:t>
            </a:r>
            <a:r>
              <a:rPr lang="en-US" b="true" sz="2033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033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EOF </a:t>
            </a:r>
          </a:p>
          <a:p>
            <a:pPr algn="ctr" marL="0" indent="0" lvl="0">
              <a:lnSpc>
                <a:spcPts val="2846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2846"/>
              </a:lnSpc>
              <a:spcBef>
                <a:spcPct val="0"/>
              </a:spcBef>
            </a:pPr>
            <a:r>
              <a:rPr lang="en-US" b="true" sz="2033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 </a:t>
            </a:r>
            <a:r>
              <a:rPr lang="en-US" b="true" sz="2033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fputc</a:t>
            </a:r>
            <a:r>
              <a:rPr lang="en-US" b="true" sz="2033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</a:t>
            </a:r>
            <a:r>
              <a:rPr lang="en-US" b="true" sz="2033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 </a:t>
            </a:r>
            <a:r>
              <a:rPr lang="en-US" b="true" sz="2033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</a:t>
            </a:r>
            <a:r>
              <a:rPr lang="en-US" b="true" sz="2033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</a:t>
            </a:r>
            <a:r>
              <a:rPr lang="en-US" b="true" sz="2033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FILE</a:t>
            </a:r>
            <a:r>
              <a:rPr lang="en-US" b="true" sz="2033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033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*</a:t>
            </a:r>
            <a:r>
              <a:rPr lang="en-US" b="true" sz="2033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fp</a:t>
            </a:r>
            <a:r>
              <a:rPr lang="en-US" b="true" sz="2033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);</a:t>
            </a:r>
            <a:r>
              <a:rPr lang="en-US" b="true" sz="2033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033" strike="noStrike" u="non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-&gt;</a:t>
            </a:r>
            <a:r>
              <a:rPr lang="en-US" b="true" sz="2033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033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връща</a:t>
            </a:r>
            <a:r>
              <a:rPr lang="en-US" b="true" sz="2033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033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EOF </a:t>
            </a:r>
            <a:r>
              <a:rPr lang="en-US" b="true" sz="2033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ако се </a:t>
            </a:r>
            <a:r>
              <a:rPr lang="en-US" b="true" sz="2033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появи грешка</a:t>
            </a:r>
            <a:r>
              <a:rPr lang="en-US" b="true" sz="2033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1111" r="0" b="-61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38225" y="1028700"/>
            <a:ext cx="16230600" cy="8585980"/>
            <a:chOff x="0" y="0"/>
            <a:chExt cx="4274726" cy="22613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261328"/>
            </a:xfrm>
            <a:custGeom>
              <a:avLst/>
              <a:gdLst/>
              <a:ahLst/>
              <a:cxnLst/>
              <a:rect r="r" b="b" t="t" l="l"/>
              <a:pathLst>
                <a:path h="2261328" w="4274726">
                  <a:moveTo>
                    <a:pt x="11925" y="0"/>
                  </a:moveTo>
                  <a:lnTo>
                    <a:pt x="4262801" y="0"/>
                  </a:lnTo>
                  <a:cubicBezTo>
                    <a:pt x="4269387" y="0"/>
                    <a:pt x="4274726" y="5339"/>
                    <a:pt x="4274726" y="11925"/>
                  </a:cubicBezTo>
                  <a:lnTo>
                    <a:pt x="4274726" y="2249403"/>
                  </a:lnTo>
                  <a:cubicBezTo>
                    <a:pt x="4274726" y="2255989"/>
                    <a:pt x="4269387" y="2261328"/>
                    <a:pt x="4262801" y="2261328"/>
                  </a:cubicBezTo>
                  <a:lnTo>
                    <a:pt x="11925" y="2261328"/>
                  </a:lnTo>
                  <a:cubicBezTo>
                    <a:pt x="5339" y="2261328"/>
                    <a:pt x="0" y="2255989"/>
                    <a:pt x="0" y="2249403"/>
                  </a:cubicBezTo>
                  <a:lnTo>
                    <a:pt x="0" y="11925"/>
                  </a:lnTo>
                  <a:cubicBezTo>
                    <a:pt x="0" y="5339"/>
                    <a:pt x="5339" y="0"/>
                    <a:pt x="11925" y="0"/>
                  </a:cubicBezTo>
                  <a:close/>
                </a:path>
              </a:pathLst>
            </a:custGeom>
            <a:solidFill>
              <a:srgbClr val="FFFFFF">
                <a:alpha val="86667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4274726" cy="22803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51031" y="1322557"/>
            <a:ext cx="16604988" cy="655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06"/>
              </a:lnSpc>
              <a:spcBef>
                <a:spcPct val="0"/>
              </a:spcBef>
            </a:pPr>
            <a:r>
              <a:rPr lang="en-US" sz="3845" spc="30">
                <a:solidFill>
                  <a:srgbClr val="010101"/>
                </a:solidFill>
                <a:latin typeface="Archivo Black"/>
                <a:ea typeface="Archivo Black"/>
                <a:cs typeface="Archivo Black"/>
                <a:sym typeface="Archivo Black"/>
              </a:rPr>
              <a:t>ФУНКЦИИ ОТ ВИСОКО НИВО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85468" y="2577613"/>
            <a:ext cx="14457416" cy="669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4"/>
              </a:lnSpc>
            </a:pPr>
            <a:r>
              <a:rPr lang="en-US" sz="2539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fprintf</a:t>
            </a:r>
            <a:r>
              <a:rPr lang="en-US" sz="2539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()</a:t>
            </a:r>
            <a:r>
              <a:rPr lang="en-US" sz="253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и </a:t>
            </a:r>
            <a:r>
              <a:rPr lang="en-US" sz="2539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fscanf</a:t>
            </a:r>
            <a:r>
              <a:rPr lang="en-US" sz="2539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()</a:t>
            </a:r>
            <a:r>
              <a:rPr lang="en-US" sz="253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539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действат </a:t>
            </a:r>
            <a:r>
              <a:rPr lang="en-US" sz="253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като </a:t>
            </a:r>
            <a:r>
              <a:rPr lang="en-US" sz="2539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scanf</a:t>
            </a:r>
            <a:r>
              <a:rPr lang="en-US" sz="2539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()</a:t>
            </a:r>
            <a:r>
              <a:rPr lang="en-US" sz="253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и </a:t>
            </a:r>
            <a:r>
              <a:rPr lang="en-US" sz="2539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printf</a:t>
            </a:r>
            <a:r>
              <a:rPr lang="en-US" sz="2539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()</a:t>
            </a:r>
            <a:r>
              <a:rPr lang="en-US" sz="253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</a:t>
            </a:r>
            <a:r>
              <a:rPr lang="en-US" sz="2539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с изключение на това</a:t>
            </a:r>
            <a:r>
              <a:rPr lang="en-US" sz="253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че </a:t>
            </a:r>
            <a:r>
              <a:rPr lang="en-US" sz="2539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работят с файлове</a:t>
            </a:r>
            <a:r>
              <a:rPr lang="en-US" sz="253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 </a:t>
            </a:r>
            <a:r>
              <a:rPr lang="en-US" sz="2539" b="tru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Прототипите </a:t>
            </a:r>
            <a:r>
              <a:rPr lang="en-US" sz="253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им са:</a:t>
            </a:r>
          </a:p>
          <a:p>
            <a:pPr algn="ctr">
              <a:lnSpc>
                <a:spcPts val="3554"/>
              </a:lnSpc>
            </a:pPr>
          </a:p>
          <a:p>
            <a:pPr algn="ctr">
              <a:lnSpc>
                <a:spcPts val="3554"/>
              </a:lnSpc>
            </a:pPr>
            <a:r>
              <a:rPr lang="en-US" sz="2539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 </a:t>
            </a:r>
            <a:r>
              <a:rPr lang="en-US" sz="253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fprintf</a:t>
            </a:r>
            <a:r>
              <a:rPr lang="en-US" sz="2539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</a:t>
            </a:r>
            <a:r>
              <a:rPr lang="en-US" sz="253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FILE </a:t>
            </a:r>
            <a:r>
              <a:rPr lang="en-US" sz="2539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*</a:t>
            </a:r>
            <a:r>
              <a:rPr lang="en-US" sz="253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fp</a:t>
            </a:r>
            <a:r>
              <a:rPr lang="en-US" sz="2539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</a:t>
            </a:r>
            <a:r>
              <a:rPr lang="en-US" sz="253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539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char </a:t>
            </a:r>
            <a:r>
              <a:rPr lang="en-US" sz="2539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*</a:t>
            </a:r>
            <a:r>
              <a:rPr lang="en-US" sz="253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539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форматиращ низ</a:t>
            </a:r>
            <a:r>
              <a:rPr lang="en-US" sz="2539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);</a:t>
            </a:r>
            <a:r>
              <a:rPr lang="en-US" sz="253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  <a:p>
            <a:pPr algn="ctr">
              <a:lnSpc>
                <a:spcPts val="3554"/>
              </a:lnSpc>
            </a:pPr>
            <a:r>
              <a:rPr lang="en-US" sz="2539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 </a:t>
            </a:r>
            <a:r>
              <a:rPr lang="en-US" sz="253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fscanf</a:t>
            </a:r>
            <a:r>
              <a:rPr lang="en-US" sz="2539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</a:t>
            </a:r>
            <a:r>
              <a:rPr lang="en-US" sz="253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FILE </a:t>
            </a:r>
            <a:r>
              <a:rPr lang="en-US" sz="2539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*</a:t>
            </a:r>
            <a:r>
              <a:rPr lang="en-US" sz="253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fp</a:t>
            </a:r>
            <a:r>
              <a:rPr lang="en-US" sz="2539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</a:t>
            </a:r>
            <a:r>
              <a:rPr lang="en-US" sz="253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539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char </a:t>
            </a:r>
            <a:r>
              <a:rPr lang="en-US" sz="2539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*</a:t>
            </a:r>
            <a:r>
              <a:rPr lang="en-US" sz="253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539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форматиращ низ</a:t>
            </a:r>
            <a:r>
              <a:rPr lang="en-US" sz="2539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);</a:t>
            </a:r>
          </a:p>
          <a:p>
            <a:pPr algn="ctr">
              <a:lnSpc>
                <a:spcPts val="3554"/>
              </a:lnSpc>
            </a:pPr>
          </a:p>
          <a:p>
            <a:pPr algn="ctr">
              <a:lnSpc>
                <a:spcPts val="3554"/>
              </a:lnSpc>
            </a:pPr>
            <a:r>
              <a:rPr lang="en-US" sz="253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имат</a:t>
            </a:r>
            <a:r>
              <a:rPr lang="en-US" sz="253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същите, вече познати свойства като pri</a:t>
            </a:r>
            <a:r>
              <a:rPr lang="en-US" sz="253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ntf()</a:t>
            </a:r>
            <a:r>
              <a:rPr lang="en-US" sz="253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и</a:t>
            </a:r>
            <a:r>
              <a:rPr lang="en-US" sz="253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scanf().</a:t>
            </a:r>
          </a:p>
          <a:p>
            <a:pPr algn="ctr">
              <a:lnSpc>
                <a:spcPts val="3554"/>
              </a:lnSpc>
            </a:pPr>
          </a:p>
          <a:p>
            <a:pPr algn="ctr">
              <a:lnSpc>
                <a:spcPts val="3554"/>
              </a:lnSpc>
            </a:pPr>
          </a:p>
          <a:p>
            <a:pPr algn="ctr">
              <a:lnSpc>
                <a:spcPts val="3554"/>
              </a:lnSpc>
            </a:pPr>
            <a:r>
              <a:rPr lang="en-US" sz="253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Функцията </a:t>
            </a:r>
            <a:r>
              <a:rPr lang="en-US" sz="2539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feof</a:t>
            </a:r>
            <a:r>
              <a:rPr lang="en-US" sz="2539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()</a:t>
            </a:r>
            <a:r>
              <a:rPr lang="en-US" sz="253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дава </a:t>
            </a:r>
            <a:r>
              <a:rPr lang="en-US" sz="2539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индикатор</a:t>
            </a:r>
            <a:r>
              <a:rPr lang="en-US" sz="253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дали</a:t>
            </a:r>
            <a:r>
              <a:rPr lang="en-US" sz="253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сме </a:t>
            </a:r>
            <a:r>
              <a:rPr lang="en-US" sz="2539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стигнали до края на файла</a:t>
            </a:r>
            <a:r>
              <a:rPr lang="en-US" sz="253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</a:t>
            </a:r>
            <a:r>
              <a:rPr lang="en-US" sz="2539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който използваме</a:t>
            </a:r>
            <a:r>
              <a:rPr lang="en-US" sz="253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 </a:t>
            </a:r>
          </a:p>
          <a:p>
            <a:pPr algn="ctr">
              <a:lnSpc>
                <a:spcPts val="3554"/>
              </a:lnSpc>
            </a:pPr>
          </a:p>
          <a:p>
            <a:pPr algn="ctr">
              <a:lnSpc>
                <a:spcPts val="3554"/>
              </a:lnSpc>
            </a:pPr>
            <a:r>
              <a:rPr lang="en-US" sz="2539" b="tru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Прототип:</a:t>
            </a:r>
          </a:p>
          <a:p>
            <a:pPr algn="ctr">
              <a:lnSpc>
                <a:spcPts val="3554"/>
              </a:lnSpc>
            </a:pPr>
          </a:p>
          <a:p>
            <a:pPr algn="ctr" marL="0" indent="0" lvl="0">
              <a:lnSpc>
                <a:spcPts val="3554"/>
              </a:lnSpc>
              <a:spcBef>
                <a:spcPct val="0"/>
              </a:spcBef>
            </a:pPr>
            <a:r>
              <a:rPr lang="en-US" b="true" sz="2539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 </a:t>
            </a:r>
            <a:r>
              <a:rPr lang="en-US" b="true" sz="253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</a:t>
            </a:r>
            <a:r>
              <a:rPr lang="en-US" b="true" sz="2539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eof</a:t>
            </a:r>
            <a:r>
              <a:rPr lang="en-US" b="true" sz="2539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</a:t>
            </a:r>
            <a:r>
              <a:rPr lang="en-US" b="true" sz="2539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FILE </a:t>
            </a:r>
            <a:r>
              <a:rPr lang="en-US" b="true" sz="2539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*</a:t>
            </a:r>
            <a:r>
              <a:rPr lang="en-US" b="true" sz="2539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fp</a:t>
            </a:r>
            <a:r>
              <a:rPr lang="en-US" b="true" sz="2539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);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1111" r="0" b="-61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51031" y="1028700"/>
            <a:ext cx="17192824" cy="9021085"/>
            <a:chOff x="0" y="0"/>
            <a:chExt cx="4528151" cy="237592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28151" cy="2375924"/>
            </a:xfrm>
            <a:custGeom>
              <a:avLst/>
              <a:gdLst/>
              <a:ahLst/>
              <a:cxnLst/>
              <a:rect r="r" b="b" t="t" l="l"/>
              <a:pathLst>
                <a:path h="2375924" w="4528151">
                  <a:moveTo>
                    <a:pt x="11257" y="0"/>
                  </a:moveTo>
                  <a:lnTo>
                    <a:pt x="4516894" y="0"/>
                  </a:lnTo>
                  <a:cubicBezTo>
                    <a:pt x="4523111" y="0"/>
                    <a:pt x="4528151" y="5040"/>
                    <a:pt x="4528151" y="11257"/>
                  </a:cubicBezTo>
                  <a:lnTo>
                    <a:pt x="4528151" y="2364666"/>
                  </a:lnTo>
                  <a:cubicBezTo>
                    <a:pt x="4528151" y="2370883"/>
                    <a:pt x="4523111" y="2375924"/>
                    <a:pt x="4516894" y="2375924"/>
                  </a:cubicBezTo>
                  <a:lnTo>
                    <a:pt x="11257" y="2375924"/>
                  </a:lnTo>
                  <a:cubicBezTo>
                    <a:pt x="5040" y="2375924"/>
                    <a:pt x="0" y="2370883"/>
                    <a:pt x="0" y="2364666"/>
                  </a:cubicBezTo>
                  <a:lnTo>
                    <a:pt x="0" y="11257"/>
                  </a:lnTo>
                  <a:cubicBezTo>
                    <a:pt x="0" y="5040"/>
                    <a:pt x="5040" y="0"/>
                    <a:pt x="11257" y="0"/>
                  </a:cubicBezTo>
                  <a:close/>
                </a:path>
              </a:pathLst>
            </a:custGeom>
            <a:solidFill>
              <a:srgbClr val="FFFFFF">
                <a:alpha val="86667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4528151" cy="2394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2632246"/>
            <a:ext cx="7887266" cy="6710998"/>
          </a:xfrm>
          <a:custGeom>
            <a:avLst/>
            <a:gdLst/>
            <a:ahLst/>
            <a:cxnLst/>
            <a:rect r="r" b="b" t="t" l="l"/>
            <a:pathLst>
              <a:path h="6710998" w="7887266">
                <a:moveTo>
                  <a:pt x="0" y="0"/>
                </a:moveTo>
                <a:lnTo>
                  <a:pt x="7887266" y="0"/>
                </a:lnTo>
                <a:lnTo>
                  <a:pt x="7887266" y="6710998"/>
                </a:lnTo>
                <a:lnTo>
                  <a:pt x="0" y="67109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2979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53525" y="3504490"/>
            <a:ext cx="8552539" cy="4281877"/>
          </a:xfrm>
          <a:custGeom>
            <a:avLst/>
            <a:gdLst/>
            <a:ahLst/>
            <a:cxnLst/>
            <a:rect r="r" b="b" t="t" l="l"/>
            <a:pathLst>
              <a:path h="4281877" w="8552539">
                <a:moveTo>
                  <a:pt x="0" y="0"/>
                </a:moveTo>
                <a:lnTo>
                  <a:pt x="8552539" y="0"/>
                </a:lnTo>
                <a:lnTo>
                  <a:pt x="8552539" y="4281878"/>
                </a:lnTo>
                <a:lnTo>
                  <a:pt x="0" y="42818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2174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51031" y="1322557"/>
            <a:ext cx="16604988" cy="655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06"/>
              </a:lnSpc>
              <a:spcBef>
                <a:spcPct val="0"/>
              </a:spcBef>
            </a:pPr>
            <a:r>
              <a:rPr lang="en-US" sz="3845" spc="30">
                <a:solidFill>
                  <a:srgbClr val="010101"/>
                </a:solidFill>
                <a:latin typeface="Archivo Black"/>
                <a:ea typeface="Archivo Black"/>
                <a:cs typeface="Archivo Black"/>
                <a:sym typeface="Archivo Black"/>
              </a:rPr>
              <a:t>ФУНКЦИИ ОТ ВИСОКО НИВО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153505" y="156794"/>
            <a:ext cx="23642831" cy="1753526"/>
            <a:chOff x="0" y="0"/>
            <a:chExt cx="2291650" cy="1699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91650" cy="169966"/>
            </a:xfrm>
            <a:custGeom>
              <a:avLst/>
              <a:gdLst/>
              <a:ahLst/>
              <a:cxnLst/>
              <a:rect r="r" b="b" t="t" l="l"/>
              <a:pathLst>
                <a:path h="169966" w="2291650">
                  <a:moveTo>
                    <a:pt x="2088450" y="0"/>
                  </a:moveTo>
                  <a:lnTo>
                    <a:pt x="0" y="0"/>
                  </a:lnTo>
                  <a:lnTo>
                    <a:pt x="203200" y="169966"/>
                  </a:lnTo>
                  <a:lnTo>
                    <a:pt x="2291650" y="169966"/>
                  </a:lnTo>
                  <a:lnTo>
                    <a:pt x="2088450" y="0"/>
                  </a:lnTo>
                  <a:close/>
                </a:path>
              </a:pathLst>
            </a:custGeom>
            <a:solidFill>
              <a:srgbClr val="010101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101600" y="-19050"/>
              <a:ext cx="2088450" cy="1890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1772576"/>
            <a:ext cx="18288000" cy="275488"/>
            <a:chOff x="0" y="0"/>
            <a:chExt cx="14529184" cy="2188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529183" cy="218865"/>
            </a:xfrm>
            <a:custGeom>
              <a:avLst/>
              <a:gdLst/>
              <a:ahLst/>
              <a:cxnLst/>
              <a:rect r="r" b="b" t="t" l="l"/>
              <a:pathLst>
                <a:path h="218865" w="14529183">
                  <a:moveTo>
                    <a:pt x="14325983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14529183" y="218865"/>
                  </a:lnTo>
                  <a:lnTo>
                    <a:pt x="14325983" y="0"/>
                  </a:lnTo>
                  <a:close/>
                </a:path>
              </a:pathLst>
            </a:custGeom>
            <a:solidFill>
              <a:srgbClr val="727070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19050"/>
              <a:ext cx="14325984" cy="2379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237332" y="19050"/>
            <a:ext cx="9534019" cy="1112295"/>
            <a:chOff x="0" y="0"/>
            <a:chExt cx="1876002" cy="2188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76002" cy="218865"/>
            </a:xfrm>
            <a:custGeom>
              <a:avLst/>
              <a:gdLst/>
              <a:ahLst/>
              <a:cxnLst/>
              <a:rect r="r" b="b" t="t" l="l"/>
              <a:pathLst>
                <a:path h="218865" w="1876002">
                  <a:moveTo>
                    <a:pt x="1672802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1876002" y="218865"/>
                  </a:lnTo>
                  <a:lnTo>
                    <a:pt x="1672802" y="0"/>
                  </a:lnTo>
                  <a:close/>
                </a:path>
              </a:pathLst>
            </a:custGeom>
            <a:solidFill>
              <a:srgbClr val="363636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19050"/>
              <a:ext cx="1672802" cy="2379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-683959" y="19050"/>
            <a:ext cx="1292129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1028700" y="173592"/>
            <a:ext cx="10822948" cy="1484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77"/>
              </a:lnSpc>
              <a:spcBef>
                <a:spcPct val="0"/>
              </a:spcBef>
            </a:pPr>
            <a:r>
              <a:rPr lang="en-US" sz="4331" spc="3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ЧЕТЕНЕ И ЗАПИСВАНЕ НА ДВОИЧНИ ДАННИ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65183" y="2209989"/>
            <a:ext cx="16086046" cy="7901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46"/>
              </a:lnSpc>
            </a:pPr>
            <a:r>
              <a:rPr lang="en-US" sz="28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Колкото и да са </a:t>
            </a:r>
            <a:r>
              <a:rPr lang="en-US" sz="2818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полезни</a:t>
            </a:r>
            <a:r>
              <a:rPr lang="en-US" sz="28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818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fprintf</a:t>
            </a:r>
            <a:r>
              <a:rPr lang="en-US" sz="2818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() </a:t>
            </a:r>
            <a:r>
              <a:rPr lang="en-US" sz="28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 </a:t>
            </a:r>
            <a:r>
              <a:rPr lang="en-US" sz="2818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fscanf</a:t>
            </a:r>
            <a:r>
              <a:rPr lang="en-US" sz="2818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()</a:t>
            </a:r>
            <a:r>
              <a:rPr lang="en-US" sz="28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те не са </a:t>
            </a:r>
            <a:r>
              <a:rPr lang="en-US" sz="2818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най-ефективният начин</a:t>
            </a:r>
            <a:r>
              <a:rPr lang="en-US" sz="28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за </a:t>
            </a:r>
            <a:r>
              <a:rPr lang="en-US" sz="2818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четене</a:t>
            </a:r>
            <a:r>
              <a:rPr lang="en-US" sz="28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и </a:t>
            </a:r>
            <a:r>
              <a:rPr lang="en-US" sz="2818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запис </a:t>
            </a:r>
            <a:r>
              <a:rPr lang="en-US" sz="28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на </a:t>
            </a:r>
            <a:r>
              <a:rPr lang="en-US" sz="2818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цифрови данни</a:t>
            </a:r>
            <a:r>
              <a:rPr lang="en-US" sz="28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</a:t>
            </a:r>
            <a:r>
              <a:rPr lang="en-US" sz="28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поради </a:t>
            </a:r>
            <a:r>
              <a:rPr lang="en-US" sz="2818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факта</a:t>
            </a:r>
            <a:r>
              <a:rPr lang="en-US" sz="28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че се </a:t>
            </a:r>
            <a:r>
              <a:rPr lang="en-US" sz="2818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преминава</a:t>
            </a:r>
            <a:r>
              <a:rPr lang="en-US" sz="28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от </a:t>
            </a:r>
            <a:r>
              <a:rPr lang="en-US" sz="2818" b="tru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двоичен формат</a:t>
            </a:r>
            <a:r>
              <a:rPr lang="en-US" sz="28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в </a:t>
            </a:r>
            <a:r>
              <a:rPr lang="en-US" sz="2818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ASCII текст</a:t>
            </a:r>
            <a:r>
              <a:rPr lang="en-US" sz="28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 </a:t>
            </a:r>
            <a:r>
              <a:rPr lang="en-US" sz="2818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Функциите</a:t>
            </a:r>
            <a:r>
              <a:rPr lang="en-US" sz="28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818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fread</a:t>
            </a:r>
            <a:r>
              <a:rPr lang="en-US" sz="2818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()</a:t>
            </a:r>
            <a:r>
              <a:rPr lang="en-US" sz="28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и </a:t>
            </a:r>
            <a:r>
              <a:rPr lang="en-US" sz="2818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fwrite</a:t>
            </a:r>
            <a:r>
              <a:rPr lang="en-US" sz="2818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()</a:t>
            </a:r>
            <a:r>
              <a:rPr lang="en-US" sz="28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могат да </a:t>
            </a:r>
            <a:r>
              <a:rPr lang="en-US" sz="2818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четат </a:t>
            </a:r>
            <a:r>
              <a:rPr lang="en-US" sz="28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всякакви </a:t>
            </a:r>
            <a:r>
              <a:rPr lang="en-US" sz="2818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типове данни</a:t>
            </a:r>
            <a:r>
              <a:rPr lang="en-US" sz="28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като използват техните </a:t>
            </a:r>
            <a:r>
              <a:rPr lang="en-US" sz="2818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двоични представяния</a:t>
            </a:r>
            <a:r>
              <a:rPr lang="en-US" sz="28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 </a:t>
            </a:r>
          </a:p>
          <a:p>
            <a:pPr algn="just">
              <a:lnSpc>
                <a:spcPts val="3946"/>
              </a:lnSpc>
            </a:pPr>
          </a:p>
          <a:p>
            <a:pPr algn="just">
              <a:lnSpc>
                <a:spcPts val="3946"/>
              </a:lnSpc>
            </a:pPr>
            <a:r>
              <a:rPr lang="en-US" sz="2818" b="tru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Прототипите им са:</a:t>
            </a:r>
          </a:p>
          <a:p>
            <a:pPr algn="just">
              <a:lnSpc>
                <a:spcPts val="3946"/>
              </a:lnSpc>
            </a:pPr>
          </a:p>
          <a:p>
            <a:pPr algn="just">
              <a:lnSpc>
                <a:spcPts val="3946"/>
              </a:lnSpc>
            </a:pPr>
            <a:r>
              <a:rPr lang="en-US" sz="2818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size_t </a:t>
            </a:r>
            <a:r>
              <a:rPr lang="en-US" sz="28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fread</a:t>
            </a:r>
            <a:r>
              <a:rPr lang="en-US" sz="2818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</a:t>
            </a:r>
            <a:r>
              <a:rPr lang="en-US" sz="2818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void</a:t>
            </a:r>
            <a:r>
              <a:rPr lang="en-US" sz="2818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*</a:t>
            </a:r>
            <a:r>
              <a:rPr lang="en-US" sz="28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buffer</a:t>
            </a:r>
            <a:r>
              <a:rPr lang="en-US" sz="2818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</a:t>
            </a:r>
            <a:r>
              <a:rPr lang="en-US" sz="2818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size_t</a:t>
            </a:r>
            <a:r>
              <a:rPr lang="en-US" sz="28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size</a:t>
            </a:r>
            <a:r>
              <a:rPr lang="en-US" sz="2818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</a:t>
            </a:r>
            <a:r>
              <a:rPr lang="en-US" sz="2818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size_t </a:t>
            </a:r>
            <a:r>
              <a:rPr lang="en-US" sz="28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num</a:t>
            </a:r>
            <a:r>
              <a:rPr lang="en-US" sz="2818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</a:t>
            </a:r>
            <a:r>
              <a:rPr lang="en-US" sz="28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FILE </a:t>
            </a:r>
            <a:r>
              <a:rPr lang="en-US" sz="2818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*</a:t>
            </a:r>
            <a:r>
              <a:rPr lang="en-US" sz="28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fp</a:t>
            </a:r>
            <a:r>
              <a:rPr lang="en-US" sz="2818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); </a:t>
            </a:r>
          </a:p>
          <a:p>
            <a:pPr algn="just">
              <a:lnSpc>
                <a:spcPts val="3946"/>
              </a:lnSpc>
            </a:pPr>
            <a:r>
              <a:rPr lang="en-US" sz="2818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size_t </a:t>
            </a:r>
            <a:r>
              <a:rPr lang="en-US" sz="28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fwrite</a:t>
            </a:r>
            <a:r>
              <a:rPr lang="en-US" sz="2818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</a:t>
            </a:r>
            <a:r>
              <a:rPr lang="en-US" sz="2818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void </a:t>
            </a:r>
            <a:r>
              <a:rPr lang="en-US" sz="2818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*</a:t>
            </a:r>
            <a:r>
              <a:rPr lang="en-US" sz="28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buffer</a:t>
            </a:r>
            <a:r>
              <a:rPr lang="en-US" sz="2818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</a:t>
            </a:r>
            <a:r>
              <a:rPr lang="en-US" sz="28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818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size_t </a:t>
            </a:r>
            <a:r>
              <a:rPr lang="en-US" sz="28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size</a:t>
            </a:r>
            <a:r>
              <a:rPr lang="en-US" sz="2818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</a:t>
            </a:r>
            <a:r>
              <a:rPr lang="en-US" sz="2818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size_t </a:t>
            </a:r>
            <a:r>
              <a:rPr lang="en-US" sz="28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num</a:t>
            </a:r>
            <a:r>
              <a:rPr lang="en-US" sz="2818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</a:t>
            </a:r>
            <a:r>
              <a:rPr lang="en-US" sz="28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FILE </a:t>
            </a:r>
            <a:r>
              <a:rPr lang="en-US" sz="2818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*</a:t>
            </a:r>
            <a:r>
              <a:rPr lang="en-US" sz="28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fp</a:t>
            </a:r>
            <a:r>
              <a:rPr lang="en-US" sz="2818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);</a:t>
            </a:r>
          </a:p>
          <a:p>
            <a:pPr algn="just">
              <a:lnSpc>
                <a:spcPts val="3946"/>
              </a:lnSpc>
            </a:pPr>
          </a:p>
          <a:p>
            <a:pPr algn="just">
              <a:lnSpc>
                <a:spcPts val="3946"/>
              </a:lnSpc>
            </a:pPr>
            <a:r>
              <a:rPr lang="en-US" sz="2818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fread</a:t>
            </a:r>
            <a:r>
              <a:rPr lang="en-US" sz="2818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()</a:t>
            </a:r>
            <a:r>
              <a:rPr lang="en-US" sz="28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чете от </a:t>
            </a:r>
            <a:r>
              <a:rPr lang="en-US" sz="2818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файл *</a:t>
            </a:r>
            <a:r>
              <a:rPr lang="en-US" sz="28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fp, </a:t>
            </a:r>
            <a:r>
              <a:rPr lang="en-US" sz="2818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num </a:t>
            </a:r>
            <a:r>
              <a:rPr lang="en-US" sz="28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означава </a:t>
            </a:r>
            <a:r>
              <a:rPr lang="en-US" sz="2818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колко пъти</a:t>
            </a:r>
            <a:r>
              <a:rPr lang="en-US" sz="28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да се </a:t>
            </a:r>
            <a:r>
              <a:rPr lang="en-US" sz="2818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прочете елемента</a:t>
            </a:r>
            <a:r>
              <a:rPr lang="en-US" sz="28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като </a:t>
            </a:r>
            <a:r>
              <a:rPr lang="en-US" sz="2818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всеки от тях</a:t>
            </a:r>
            <a:r>
              <a:rPr lang="en-US" sz="28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е с размер</a:t>
            </a:r>
            <a:r>
              <a:rPr lang="en-US" sz="28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818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“size”</a:t>
            </a:r>
            <a:r>
              <a:rPr lang="en-US" sz="28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818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байта</a:t>
            </a:r>
            <a:r>
              <a:rPr lang="en-US" sz="28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в </a:t>
            </a:r>
            <a:r>
              <a:rPr lang="en-US" sz="2818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променлива</a:t>
            </a:r>
            <a:r>
              <a:rPr lang="en-US" sz="28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която </a:t>
            </a:r>
            <a:r>
              <a:rPr lang="en-US" sz="2818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действа като буфер</a:t>
            </a:r>
            <a:r>
              <a:rPr lang="en-US" sz="28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като тя е </a:t>
            </a:r>
            <a:r>
              <a:rPr lang="en-US" sz="2818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посочена от указател</a:t>
            </a:r>
            <a:r>
              <a:rPr lang="en-US" sz="28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</a:t>
            </a:r>
            <a:r>
              <a:rPr lang="en-US" sz="2818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за да я запълним</a:t>
            </a:r>
            <a:r>
              <a:rPr lang="en-US" sz="28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  <a:r>
              <a:rPr lang="en-US" sz="28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Тя </a:t>
            </a:r>
            <a:r>
              <a:rPr lang="en-US" sz="2818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връща броя</a:t>
            </a:r>
            <a:r>
              <a:rPr lang="en-US" sz="28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на </a:t>
            </a:r>
            <a:r>
              <a:rPr lang="en-US" sz="2818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прочетените обекти</a:t>
            </a:r>
            <a:r>
              <a:rPr lang="en-US" sz="28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  <a:p>
            <a:pPr algn="just">
              <a:lnSpc>
                <a:spcPts val="3946"/>
              </a:lnSpc>
            </a:pPr>
          </a:p>
          <a:p>
            <a:pPr algn="just">
              <a:lnSpc>
                <a:spcPts val="3946"/>
              </a:lnSpc>
            </a:pPr>
            <a:r>
              <a:rPr lang="en-US" sz="2818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fwrite</a:t>
            </a:r>
            <a:r>
              <a:rPr lang="en-US" sz="28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() е </a:t>
            </a:r>
            <a:r>
              <a:rPr lang="en-US" sz="2818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противоположна </a:t>
            </a:r>
            <a:r>
              <a:rPr lang="en-US" sz="28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на </a:t>
            </a:r>
            <a:r>
              <a:rPr lang="en-US" sz="2818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fread</a:t>
            </a:r>
            <a:r>
              <a:rPr lang="en-US" sz="28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() и </a:t>
            </a:r>
            <a:r>
              <a:rPr lang="en-US" sz="2818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записва</a:t>
            </a:r>
            <a:r>
              <a:rPr lang="en-US" sz="28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вместо да </a:t>
            </a:r>
            <a:r>
              <a:rPr lang="en-US" sz="2818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чете</a:t>
            </a:r>
            <a:r>
              <a:rPr lang="en-US" sz="28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  <a:p>
            <a:pPr algn="just" marL="0" indent="0" lvl="0">
              <a:lnSpc>
                <a:spcPts val="394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153505" y="156794"/>
            <a:ext cx="23642831" cy="1753526"/>
            <a:chOff x="0" y="0"/>
            <a:chExt cx="2291650" cy="1699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91650" cy="169966"/>
            </a:xfrm>
            <a:custGeom>
              <a:avLst/>
              <a:gdLst/>
              <a:ahLst/>
              <a:cxnLst/>
              <a:rect r="r" b="b" t="t" l="l"/>
              <a:pathLst>
                <a:path h="169966" w="2291650">
                  <a:moveTo>
                    <a:pt x="2088450" y="0"/>
                  </a:moveTo>
                  <a:lnTo>
                    <a:pt x="0" y="0"/>
                  </a:lnTo>
                  <a:lnTo>
                    <a:pt x="203200" y="169966"/>
                  </a:lnTo>
                  <a:lnTo>
                    <a:pt x="2291650" y="169966"/>
                  </a:lnTo>
                  <a:lnTo>
                    <a:pt x="2088450" y="0"/>
                  </a:lnTo>
                  <a:close/>
                </a:path>
              </a:pathLst>
            </a:custGeom>
            <a:solidFill>
              <a:srgbClr val="010101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101600" y="-19050"/>
              <a:ext cx="2088450" cy="1890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1772576"/>
            <a:ext cx="18288000" cy="275488"/>
            <a:chOff x="0" y="0"/>
            <a:chExt cx="14529184" cy="2188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529183" cy="218865"/>
            </a:xfrm>
            <a:custGeom>
              <a:avLst/>
              <a:gdLst/>
              <a:ahLst/>
              <a:cxnLst/>
              <a:rect r="r" b="b" t="t" l="l"/>
              <a:pathLst>
                <a:path h="218865" w="14529183">
                  <a:moveTo>
                    <a:pt x="14325983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14529183" y="218865"/>
                  </a:lnTo>
                  <a:lnTo>
                    <a:pt x="14325983" y="0"/>
                  </a:lnTo>
                  <a:close/>
                </a:path>
              </a:pathLst>
            </a:custGeom>
            <a:solidFill>
              <a:srgbClr val="727070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19050"/>
              <a:ext cx="14325984" cy="2379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237332" y="19050"/>
            <a:ext cx="9534019" cy="1112295"/>
            <a:chOff x="0" y="0"/>
            <a:chExt cx="1876002" cy="2188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76002" cy="218865"/>
            </a:xfrm>
            <a:custGeom>
              <a:avLst/>
              <a:gdLst/>
              <a:ahLst/>
              <a:cxnLst/>
              <a:rect r="r" b="b" t="t" l="l"/>
              <a:pathLst>
                <a:path h="218865" w="1876002">
                  <a:moveTo>
                    <a:pt x="1672802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1876002" y="218865"/>
                  </a:lnTo>
                  <a:lnTo>
                    <a:pt x="1672802" y="0"/>
                  </a:lnTo>
                  <a:close/>
                </a:path>
              </a:pathLst>
            </a:custGeom>
            <a:solidFill>
              <a:srgbClr val="363636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19050"/>
              <a:ext cx="1672802" cy="2379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-683959" y="19050"/>
            <a:ext cx="1292129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599099" y="2257614"/>
            <a:ext cx="7453703" cy="7765312"/>
          </a:xfrm>
          <a:custGeom>
            <a:avLst/>
            <a:gdLst/>
            <a:ahLst/>
            <a:cxnLst/>
            <a:rect r="r" b="b" t="t" l="l"/>
            <a:pathLst>
              <a:path h="7765312" w="7453703">
                <a:moveTo>
                  <a:pt x="0" y="0"/>
                </a:moveTo>
                <a:lnTo>
                  <a:pt x="7453703" y="0"/>
                </a:lnTo>
                <a:lnTo>
                  <a:pt x="7453703" y="7765313"/>
                </a:lnTo>
                <a:lnTo>
                  <a:pt x="0" y="77653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808776" y="2866128"/>
            <a:ext cx="8195566" cy="6548284"/>
          </a:xfrm>
          <a:custGeom>
            <a:avLst/>
            <a:gdLst/>
            <a:ahLst/>
            <a:cxnLst/>
            <a:rect r="r" b="b" t="t" l="l"/>
            <a:pathLst>
              <a:path h="6548284" w="8195566">
                <a:moveTo>
                  <a:pt x="0" y="0"/>
                </a:moveTo>
                <a:lnTo>
                  <a:pt x="8195566" y="0"/>
                </a:lnTo>
                <a:lnTo>
                  <a:pt x="8195566" y="6548285"/>
                </a:lnTo>
                <a:lnTo>
                  <a:pt x="0" y="65482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173592"/>
            <a:ext cx="10822948" cy="1484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77"/>
              </a:lnSpc>
              <a:spcBef>
                <a:spcPct val="0"/>
              </a:spcBef>
            </a:pPr>
            <a:r>
              <a:rPr lang="en-US" sz="4331" spc="3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ЧЕТЕНЕ И ЗАПИСВАНЕ НА ДВОИЧНИ ДАННИ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153505" y="156794"/>
            <a:ext cx="23642831" cy="1753526"/>
            <a:chOff x="0" y="0"/>
            <a:chExt cx="2291650" cy="1699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91650" cy="169966"/>
            </a:xfrm>
            <a:custGeom>
              <a:avLst/>
              <a:gdLst/>
              <a:ahLst/>
              <a:cxnLst/>
              <a:rect r="r" b="b" t="t" l="l"/>
              <a:pathLst>
                <a:path h="169966" w="2291650">
                  <a:moveTo>
                    <a:pt x="2088450" y="0"/>
                  </a:moveTo>
                  <a:lnTo>
                    <a:pt x="0" y="0"/>
                  </a:lnTo>
                  <a:lnTo>
                    <a:pt x="203200" y="169966"/>
                  </a:lnTo>
                  <a:lnTo>
                    <a:pt x="2291650" y="169966"/>
                  </a:lnTo>
                  <a:lnTo>
                    <a:pt x="2088450" y="0"/>
                  </a:lnTo>
                  <a:close/>
                </a:path>
              </a:pathLst>
            </a:custGeom>
            <a:solidFill>
              <a:srgbClr val="010101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101600" y="-19050"/>
              <a:ext cx="2088450" cy="1890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1772576"/>
            <a:ext cx="18288000" cy="275488"/>
            <a:chOff x="0" y="0"/>
            <a:chExt cx="14529184" cy="2188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529183" cy="218865"/>
            </a:xfrm>
            <a:custGeom>
              <a:avLst/>
              <a:gdLst/>
              <a:ahLst/>
              <a:cxnLst/>
              <a:rect r="r" b="b" t="t" l="l"/>
              <a:pathLst>
                <a:path h="218865" w="14529183">
                  <a:moveTo>
                    <a:pt x="14325983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14529183" y="218865"/>
                  </a:lnTo>
                  <a:lnTo>
                    <a:pt x="14325983" y="0"/>
                  </a:lnTo>
                  <a:close/>
                </a:path>
              </a:pathLst>
            </a:custGeom>
            <a:solidFill>
              <a:srgbClr val="727070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19050"/>
              <a:ext cx="14325984" cy="2379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237332" y="19050"/>
            <a:ext cx="9534019" cy="1112295"/>
            <a:chOff x="0" y="0"/>
            <a:chExt cx="1876002" cy="2188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76002" cy="218865"/>
            </a:xfrm>
            <a:custGeom>
              <a:avLst/>
              <a:gdLst/>
              <a:ahLst/>
              <a:cxnLst/>
              <a:rect r="r" b="b" t="t" l="l"/>
              <a:pathLst>
                <a:path h="218865" w="1876002">
                  <a:moveTo>
                    <a:pt x="1672802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1876002" y="218865"/>
                  </a:lnTo>
                  <a:lnTo>
                    <a:pt x="1672802" y="0"/>
                  </a:lnTo>
                  <a:close/>
                </a:path>
              </a:pathLst>
            </a:custGeom>
            <a:solidFill>
              <a:srgbClr val="363636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19050"/>
              <a:ext cx="1672802" cy="2379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-683959" y="19050"/>
            <a:ext cx="1292129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809805" y="479947"/>
            <a:ext cx="11208632" cy="812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48"/>
              </a:lnSpc>
              <a:spcBef>
                <a:spcPct val="0"/>
              </a:spcBef>
            </a:pPr>
            <a:r>
              <a:rPr lang="en-US" sz="4745" spc="37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ПРОИЗВОЛЕН ДОСТЪП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98570" y="2204749"/>
            <a:ext cx="15520234" cy="780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22"/>
              </a:lnSpc>
            </a:pPr>
            <a:r>
              <a:rPr lang="en-US" sz="223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До</a:t>
            </a:r>
            <a:r>
              <a:rPr lang="en-US" sz="223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момента </a:t>
            </a:r>
            <a:r>
              <a:rPr lang="en-US" sz="2230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записвахме </a:t>
            </a:r>
            <a:r>
              <a:rPr lang="en-US" sz="223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или </a:t>
            </a:r>
            <a:r>
              <a:rPr lang="en-US" sz="2230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четяхме</a:t>
            </a:r>
            <a:r>
              <a:rPr lang="en-US" sz="223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230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файл </a:t>
            </a:r>
            <a:r>
              <a:rPr lang="en-US" sz="2230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последователно</a:t>
            </a:r>
            <a:r>
              <a:rPr lang="en-US" sz="223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от </a:t>
            </a:r>
            <a:r>
              <a:rPr lang="en-US" sz="2230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началото до края</a:t>
            </a:r>
            <a:r>
              <a:rPr lang="en-US" sz="223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му (</a:t>
            </a:r>
            <a:r>
              <a:rPr lang="en-US" sz="2230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ако достигнем такъв</a:t>
            </a:r>
            <a:r>
              <a:rPr lang="en-US" sz="223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). Може да </a:t>
            </a:r>
            <a:r>
              <a:rPr lang="en-US" sz="2230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имаме достъп</a:t>
            </a:r>
            <a:r>
              <a:rPr lang="en-US" sz="223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до </a:t>
            </a:r>
            <a:r>
              <a:rPr lang="en-US" sz="2230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всяка позиция</a:t>
            </a:r>
            <a:r>
              <a:rPr lang="en-US" sz="223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230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във файла</a:t>
            </a:r>
            <a:r>
              <a:rPr lang="en-US" sz="223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чрез </a:t>
            </a:r>
            <a:r>
              <a:rPr lang="en-US" sz="2230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fseek</a:t>
            </a:r>
            <a:r>
              <a:rPr lang="en-US" sz="2230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()</a:t>
            </a:r>
          </a:p>
          <a:p>
            <a:pPr algn="just">
              <a:lnSpc>
                <a:spcPts val="3122"/>
              </a:lnSpc>
            </a:pPr>
          </a:p>
          <a:p>
            <a:pPr algn="just">
              <a:lnSpc>
                <a:spcPts val="3122"/>
              </a:lnSpc>
            </a:pPr>
            <a:r>
              <a:rPr lang="en-US" sz="2230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 </a:t>
            </a:r>
            <a:r>
              <a:rPr lang="en-US" sz="223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</a:t>
            </a:r>
            <a:r>
              <a:rPr lang="en-US" sz="223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seek</a:t>
            </a:r>
            <a:r>
              <a:rPr lang="en-US" sz="2230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</a:t>
            </a:r>
            <a:r>
              <a:rPr lang="en-US" sz="223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FILE </a:t>
            </a:r>
            <a:r>
              <a:rPr lang="en-US" sz="2230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*</a:t>
            </a:r>
            <a:r>
              <a:rPr lang="en-US" sz="223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fp</a:t>
            </a:r>
            <a:r>
              <a:rPr lang="en-US" sz="2230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</a:t>
            </a:r>
            <a:r>
              <a:rPr lang="en-US" sz="223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230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long </a:t>
            </a:r>
            <a:r>
              <a:rPr lang="en-US" sz="2230" b="tru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отместване</a:t>
            </a:r>
            <a:r>
              <a:rPr lang="en-US" sz="2230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</a:t>
            </a:r>
            <a:r>
              <a:rPr lang="en-US" sz="223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230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 </a:t>
            </a:r>
            <a:r>
              <a:rPr lang="en-US" sz="2230" b="tru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начало</a:t>
            </a:r>
            <a:r>
              <a:rPr lang="en-US" sz="2230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);</a:t>
            </a:r>
          </a:p>
          <a:p>
            <a:pPr algn="just">
              <a:lnSpc>
                <a:spcPts val="3122"/>
              </a:lnSpc>
            </a:pPr>
          </a:p>
          <a:p>
            <a:pPr algn="just">
              <a:lnSpc>
                <a:spcPts val="3122"/>
              </a:lnSpc>
            </a:pPr>
            <a:r>
              <a:rPr lang="en-US" sz="2230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Стойността </a:t>
            </a:r>
            <a:r>
              <a:rPr lang="en-US" sz="2230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на отместване</a:t>
            </a:r>
            <a:r>
              <a:rPr lang="en-US" sz="223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определя </a:t>
            </a:r>
            <a:r>
              <a:rPr lang="en-US" sz="2230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броя на байтовете</a:t>
            </a:r>
            <a:r>
              <a:rPr lang="en-US" sz="223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230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след начало</a:t>
            </a:r>
            <a:r>
              <a:rPr lang="en-US" sz="223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които ще </a:t>
            </a:r>
            <a:r>
              <a:rPr lang="en-US" sz="2230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зададат</a:t>
            </a:r>
            <a:r>
              <a:rPr lang="en-US" sz="223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230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новата текуща позиция</a:t>
            </a:r>
            <a:r>
              <a:rPr lang="en-US" sz="223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 </a:t>
            </a:r>
            <a:r>
              <a:rPr lang="en-US" sz="2230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Начало </a:t>
            </a:r>
            <a:r>
              <a:rPr lang="en-US" sz="223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може да бъде:</a:t>
            </a:r>
          </a:p>
          <a:p>
            <a:pPr algn="just">
              <a:lnSpc>
                <a:spcPts val="3122"/>
              </a:lnSpc>
            </a:pPr>
          </a:p>
          <a:p>
            <a:pPr algn="just">
              <a:lnSpc>
                <a:spcPts val="3122"/>
              </a:lnSpc>
            </a:pPr>
            <a:r>
              <a:rPr lang="en-US" sz="2230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SEEK_SET </a:t>
            </a:r>
            <a:r>
              <a:rPr lang="en-US" sz="223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 </a:t>
            </a:r>
            <a:r>
              <a:rPr lang="en-US" sz="2230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търси</a:t>
            </a:r>
            <a:r>
              <a:rPr lang="en-US" sz="223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от </a:t>
            </a:r>
            <a:r>
              <a:rPr lang="en-US" sz="2230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началото на файла</a:t>
            </a:r>
            <a:r>
              <a:rPr lang="en-US" sz="223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  <a:p>
            <a:pPr algn="just">
              <a:lnSpc>
                <a:spcPts val="3122"/>
              </a:lnSpc>
            </a:pPr>
            <a:r>
              <a:rPr lang="en-US" sz="2230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SEEK_CUR </a:t>
            </a:r>
            <a:r>
              <a:rPr lang="en-US" sz="223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– </a:t>
            </a:r>
            <a:r>
              <a:rPr lang="en-US" sz="2230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търси </a:t>
            </a:r>
            <a:r>
              <a:rPr lang="en-US" sz="223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от </a:t>
            </a:r>
            <a:r>
              <a:rPr lang="en-US" sz="2230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текущата позиция </a:t>
            </a:r>
          </a:p>
          <a:p>
            <a:pPr algn="just">
              <a:lnSpc>
                <a:spcPts val="3122"/>
              </a:lnSpc>
            </a:pPr>
            <a:r>
              <a:rPr lang="en-US" sz="2230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SEEK_END </a:t>
            </a:r>
            <a:r>
              <a:rPr lang="en-US" sz="223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– </a:t>
            </a:r>
            <a:r>
              <a:rPr lang="en-US" sz="2230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търси </a:t>
            </a:r>
            <a:r>
              <a:rPr lang="en-US" sz="223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от </a:t>
            </a:r>
            <a:r>
              <a:rPr lang="en-US" sz="2230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края на файла</a:t>
            </a:r>
          </a:p>
          <a:p>
            <a:pPr algn="just">
              <a:lnSpc>
                <a:spcPts val="3122"/>
              </a:lnSpc>
            </a:pPr>
          </a:p>
          <a:p>
            <a:pPr algn="just">
              <a:lnSpc>
                <a:spcPts val="3122"/>
              </a:lnSpc>
            </a:pPr>
            <a:r>
              <a:rPr lang="en-US" sz="2230" b="tru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Например </a:t>
            </a:r>
            <a:r>
              <a:rPr lang="en-US" sz="223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ако искате да </a:t>
            </a:r>
            <a:r>
              <a:rPr lang="en-US" sz="2230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зададете</a:t>
            </a:r>
            <a:r>
              <a:rPr lang="en-US" sz="2230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текущото положение </a:t>
            </a:r>
            <a:r>
              <a:rPr lang="en-US" sz="223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на</a:t>
            </a:r>
            <a:r>
              <a:rPr lang="en-US" sz="2230" b="true">
                <a:solidFill>
                  <a:srgbClr val="FF66C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10</a:t>
            </a:r>
            <a:r>
              <a:rPr lang="en-US" sz="2230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байта </a:t>
            </a:r>
            <a:r>
              <a:rPr lang="en-US" sz="223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от </a:t>
            </a:r>
            <a:r>
              <a:rPr lang="en-US" sz="2230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началото на даден файл</a:t>
            </a:r>
            <a:r>
              <a:rPr lang="en-US" sz="223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тогава </a:t>
            </a:r>
            <a:r>
              <a:rPr lang="en-US" sz="2230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начало</a:t>
            </a:r>
            <a:r>
              <a:rPr lang="en-US" sz="223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ще бъде </a:t>
            </a:r>
            <a:r>
              <a:rPr lang="en-US" sz="2230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SEEK_SET</a:t>
            </a:r>
            <a:r>
              <a:rPr lang="en-US" sz="223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</a:t>
            </a:r>
            <a:r>
              <a:rPr lang="en-US" sz="223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а</a:t>
            </a:r>
            <a:r>
              <a:rPr lang="en-US" sz="223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230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отместването</a:t>
            </a:r>
            <a:r>
              <a:rPr lang="en-US" sz="223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–</a:t>
            </a:r>
            <a:r>
              <a:rPr lang="en-US" sz="2230" b="true">
                <a:solidFill>
                  <a:srgbClr val="FF66C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10</a:t>
            </a:r>
            <a:r>
              <a:rPr lang="en-US" sz="223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  <a:p>
            <a:pPr algn="just">
              <a:lnSpc>
                <a:spcPts val="3122"/>
              </a:lnSpc>
            </a:pPr>
          </a:p>
          <a:p>
            <a:pPr algn="just">
              <a:lnSpc>
                <a:spcPts val="3122"/>
              </a:lnSpc>
            </a:pPr>
            <a:r>
              <a:rPr lang="en-US" sz="2230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ftell</a:t>
            </a:r>
            <a:r>
              <a:rPr lang="en-US" sz="2230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()</a:t>
            </a:r>
            <a:r>
              <a:rPr lang="en-US" sz="223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– </a:t>
            </a:r>
            <a:r>
              <a:rPr lang="en-US" sz="2230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определя</a:t>
            </a:r>
            <a:r>
              <a:rPr lang="en-US" sz="223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230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текущата позиция</a:t>
            </a:r>
            <a:r>
              <a:rPr lang="en-US" sz="223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на </a:t>
            </a:r>
            <a:r>
              <a:rPr lang="en-US" sz="2230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файла</a:t>
            </a:r>
            <a:r>
              <a:rPr lang="en-US" sz="223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 </a:t>
            </a:r>
          </a:p>
          <a:p>
            <a:pPr algn="just">
              <a:lnSpc>
                <a:spcPts val="3122"/>
              </a:lnSpc>
            </a:pPr>
          </a:p>
          <a:p>
            <a:pPr algn="just" marL="0" indent="0" lvl="0">
              <a:lnSpc>
                <a:spcPts val="3122"/>
              </a:lnSpc>
              <a:spcBef>
                <a:spcPct val="0"/>
              </a:spcBef>
            </a:pPr>
            <a:r>
              <a:rPr lang="en-US" b="true" sz="2230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</a:t>
            </a:r>
            <a:r>
              <a:rPr lang="en-US" b="true" sz="2230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nt </a:t>
            </a:r>
            <a:r>
              <a:rPr lang="en-US" b="true" sz="223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ftell</a:t>
            </a:r>
            <a:r>
              <a:rPr lang="en-US" b="true" sz="2230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</a:t>
            </a:r>
            <a:r>
              <a:rPr lang="en-US" b="true" sz="223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FILE</a:t>
            </a:r>
            <a:r>
              <a:rPr lang="en-US" b="true" sz="223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*fp</a:t>
            </a:r>
            <a:r>
              <a:rPr lang="en-US" b="true" sz="223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);</a:t>
            </a:r>
          </a:p>
          <a:p>
            <a:pPr algn="just" marL="0" indent="0" lvl="0">
              <a:lnSpc>
                <a:spcPts val="3122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122"/>
              </a:lnSpc>
              <a:spcBef>
                <a:spcPct val="0"/>
              </a:spcBef>
            </a:pPr>
            <a:r>
              <a:rPr lang="en-US" b="true" sz="223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Ако се </a:t>
            </a:r>
            <a:r>
              <a:rPr lang="en-US" b="true" sz="223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появи</a:t>
            </a:r>
            <a:r>
              <a:rPr lang="en-US" b="true" sz="223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23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грешка </a:t>
            </a:r>
            <a:r>
              <a:rPr lang="en-US" b="true" sz="223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връща</a:t>
            </a:r>
            <a:r>
              <a:rPr lang="en-US" b="true" sz="223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-</a:t>
            </a:r>
            <a:r>
              <a:rPr lang="en-US" b="true" sz="2230" strike="noStrike" u="none">
                <a:solidFill>
                  <a:srgbClr val="FF66C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  <a:r>
              <a:rPr lang="en-US" b="true" sz="223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153505" y="156794"/>
            <a:ext cx="23642831" cy="1753526"/>
            <a:chOff x="0" y="0"/>
            <a:chExt cx="2291650" cy="1699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91650" cy="169966"/>
            </a:xfrm>
            <a:custGeom>
              <a:avLst/>
              <a:gdLst/>
              <a:ahLst/>
              <a:cxnLst/>
              <a:rect r="r" b="b" t="t" l="l"/>
              <a:pathLst>
                <a:path h="169966" w="2291650">
                  <a:moveTo>
                    <a:pt x="2088450" y="0"/>
                  </a:moveTo>
                  <a:lnTo>
                    <a:pt x="0" y="0"/>
                  </a:lnTo>
                  <a:lnTo>
                    <a:pt x="203200" y="169966"/>
                  </a:lnTo>
                  <a:lnTo>
                    <a:pt x="2291650" y="169966"/>
                  </a:lnTo>
                  <a:lnTo>
                    <a:pt x="2088450" y="0"/>
                  </a:lnTo>
                  <a:close/>
                </a:path>
              </a:pathLst>
            </a:custGeom>
            <a:solidFill>
              <a:srgbClr val="010101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101600" y="-19050"/>
              <a:ext cx="2088450" cy="1890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1772576"/>
            <a:ext cx="18288000" cy="275488"/>
            <a:chOff x="0" y="0"/>
            <a:chExt cx="14529184" cy="2188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529183" cy="218865"/>
            </a:xfrm>
            <a:custGeom>
              <a:avLst/>
              <a:gdLst/>
              <a:ahLst/>
              <a:cxnLst/>
              <a:rect r="r" b="b" t="t" l="l"/>
              <a:pathLst>
                <a:path h="218865" w="14529183">
                  <a:moveTo>
                    <a:pt x="14325983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14529183" y="218865"/>
                  </a:lnTo>
                  <a:lnTo>
                    <a:pt x="14325983" y="0"/>
                  </a:lnTo>
                  <a:close/>
                </a:path>
              </a:pathLst>
            </a:custGeom>
            <a:solidFill>
              <a:srgbClr val="727070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19050"/>
              <a:ext cx="14325984" cy="2379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237332" y="19050"/>
            <a:ext cx="9534019" cy="1112295"/>
            <a:chOff x="0" y="0"/>
            <a:chExt cx="1876002" cy="2188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76002" cy="218865"/>
            </a:xfrm>
            <a:custGeom>
              <a:avLst/>
              <a:gdLst/>
              <a:ahLst/>
              <a:cxnLst/>
              <a:rect r="r" b="b" t="t" l="l"/>
              <a:pathLst>
                <a:path h="218865" w="1876002">
                  <a:moveTo>
                    <a:pt x="1672802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1876002" y="218865"/>
                  </a:lnTo>
                  <a:lnTo>
                    <a:pt x="1672802" y="0"/>
                  </a:lnTo>
                  <a:close/>
                </a:path>
              </a:pathLst>
            </a:custGeom>
            <a:solidFill>
              <a:srgbClr val="363636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19050"/>
              <a:ext cx="1672802" cy="2379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-683959" y="19050"/>
            <a:ext cx="1292129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809805" y="479947"/>
            <a:ext cx="11208632" cy="812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48"/>
              </a:lnSpc>
              <a:spcBef>
                <a:spcPct val="0"/>
              </a:spcBef>
            </a:pPr>
            <a:r>
              <a:rPr lang="en-US" sz="4745" spc="37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ПРОИЗВОЛЕН ДОСТЪП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9805" y="2476689"/>
            <a:ext cx="16615244" cy="711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42"/>
              </a:lnSpc>
            </a:pPr>
            <a:r>
              <a:rPr lang="en-US" sz="2387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Преименуване на файл</a:t>
            </a:r>
          </a:p>
          <a:p>
            <a:pPr algn="just">
              <a:lnSpc>
                <a:spcPts val="3342"/>
              </a:lnSpc>
            </a:pPr>
            <a:r>
              <a:rPr lang="en-US" sz="238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Може да </a:t>
            </a:r>
            <a:r>
              <a:rPr lang="en-US" sz="2387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преименувате</a:t>
            </a:r>
            <a:r>
              <a:rPr lang="en-US" sz="238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387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файл</a:t>
            </a:r>
            <a:r>
              <a:rPr lang="en-US" sz="238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като използвате </a:t>
            </a:r>
            <a:r>
              <a:rPr lang="en-US" sz="2387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rename</a:t>
            </a:r>
            <a:r>
              <a:rPr lang="en-US" sz="2387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()</a:t>
            </a:r>
            <a:r>
              <a:rPr lang="en-US" sz="238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с </a:t>
            </a:r>
            <a:r>
              <a:rPr lang="en-US" sz="2387" b="tru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прототип</a:t>
            </a:r>
            <a:r>
              <a:rPr lang="en-US" sz="238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 </a:t>
            </a:r>
          </a:p>
          <a:p>
            <a:pPr algn="just">
              <a:lnSpc>
                <a:spcPts val="3342"/>
              </a:lnSpc>
            </a:pPr>
          </a:p>
          <a:p>
            <a:pPr algn="just">
              <a:lnSpc>
                <a:spcPts val="3342"/>
              </a:lnSpc>
            </a:pPr>
            <a:r>
              <a:rPr lang="en-US" sz="2387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 </a:t>
            </a:r>
            <a:r>
              <a:rPr lang="en-US" sz="238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</a:t>
            </a:r>
            <a:r>
              <a:rPr lang="en-US" sz="238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ename</a:t>
            </a:r>
            <a:r>
              <a:rPr lang="en-US" sz="2387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</a:t>
            </a:r>
            <a:r>
              <a:rPr lang="en-US" sz="2387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char </a:t>
            </a:r>
            <a:r>
              <a:rPr lang="en-US" sz="2387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*</a:t>
            </a:r>
            <a:r>
              <a:rPr lang="en-US" sz="2387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старо име</a:t>
            </a:r>
            <a:r>
              <a:rPr lang="en-US" sz="2387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</a:t>
            </a:r>
            <a:r>
              <a:rPr lang="en-US" sz="238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387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char</a:t>
            </a:r>
            <a:r>
              <a:rPr lang="en-US" sz="2387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*</a:t>
            </a:r>
            <a:r>
              <a:rPr lang="en-US" sz="2387" b="tru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ново име</a:t>
            </a:r>
            <a:r>
              <a:rPr lang="en-US" sz="2387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);</a:t>
            </a:r>
          </a:p>
          <a:p>
            <a:pPr algn="just">
              <a:lnSpc>
                <a:spcPts val="3342"/>
              </a:lnSpc>
            </a:pPr>
          </a:p>
          <a:p>
            <a:pPr algn="just">
              <a:lnSpc>
                <a:spcPts val="3342"/>
              </a:lnSpc>
            </a:pPr>
            <a:r>
              <a:rPr lang="en-US" sz="2387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Фу</a:t>
            </a:r>
            <a:r>
              <a:rPr lang="en-US" sz="2387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нкцията </a:t>
            </a:r>
            <a:r>
              <a:rPr lang="en-US" sz="238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връща </a:t>
            </a:r>
            <a:r>
              <a:rPr lang="en-US" sz="2387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нула</a:t>
            </a:r>
            <a:r>
              <a:rPr lang="en-US" sz="238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ако е </a:t>
            </a:r>
            <a:r>
              <a:rPr lang="en-US" sz="2387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завършила</a:t>
            </a:r>
            <a:r>
              <a:rPr lang="en-US" sz="238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и </a:t>
            </a:r>
            <a:r>
              <a:rPr lang="en-US" sz="2387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ненулев резултат</a:t>
            </a:r>
            <a:r>
              <a:rPr lang="en-US" sz="238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ако </a:t>
            </a:r>
            <a:r>
              <a:rPr lang="en-US" sz="2387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има грешка</a:t>
            </a:r>
            <a:r>
              <a:rPr lang="en-US" sz="238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  <a:p>
            <a:pPr algn="just">
              <a:lnSpc>
                <a:spcPts val="3342"/>
              </a:lnSpc>
            </a:pPr>
          </a:p>
          <a:p>
            <a:pPr algn="just">
              <a:lnSpc>
                <a:spcPts val="3342"/>
              </a:lnSpc>
            </a:pPr>
          </a:p>
          <a:p>
            <a:pPr algn="just">
              <a:lnSpc>
                <a:spcPts val="3342"/>
              </a:lnSpc>
            </a:pPr>
            <a:r>
              <a:rPr lang="en-US" sz="2387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Из</a:t>
            </a:r>
            <a:r>
              <a:rPr lang="en-US" sz="2387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триване на файл</a:t>
            </a:r>
          </a:p>
          <a:p>
            <a:pPr algn="just">
              <a:lnSpc>
                <a:spcPts val="3342"/>
              </a:lnSpc>
            </a:pPr>
            <a:r>
              <a:rPr lang="en-US" sz="238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М</a:t>
            </a:r>
            <a:r>
              <a:rPr lang="en-US" sz="238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ожете да </a:t>
            </a:r>
            <a:r>
              <a:rPr lang="en-US" sz="2387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изтриете </a:t>
            </a:r>
            <a:r>
              <a:rPr lang="en-US" sz="2387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файл </a:t>
            </a:r>
            <a:r>
              <a:rPr lang="en-US" sz="238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чрез </a:t>
            </a:r>
            <a:r>
              <a:rPr lang="en-US" sz="2387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remove</a:t>
            </a:r>
            <a:r>
              <a:rPr lang="en-US" sz="2387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()</a:t>
            </a:r>
            <a:r>
              <a:rPr lang="en-US" sz="238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с </a:t>
            </a:r>
            <a:r>
              <a:rPr lang="en-US" sz="2387" b="tru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прототип</a:t>
            </a:r>
            <a:r>
              <a:rPr lang="en-US" sz="238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  <a:p>
            <a:pPr algn="just">
              <a:lnSpc>
                <a:spcPts val="3342"/>
              </a:lnSpc>
            </a:pPr>
          </a:p>
          <a:p>
            <a:pPr algn="just">
              <a:lnSpc>
                <a:spcPts val="3342"/>
              </a:lnSpc>
            </a:pPr>
            <a:r>
              <a:rPr lang="en-US" sz="2387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</a:t>
            </a:r>
            <a:r>
              <a:rPr lang="en-US" sz="2387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nt </a:t>
            </a:r>
            <a:r>
              <a:rPr lang="en-US" sz="238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remove</a:t>
            </a:r>
            <a:r>
              <a:rPr lang="en-US" sz="2387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</a:t>
            </a:r>
            <a:r>
              <a:rPr lang="en-US" sz="2387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char </a:t>
            </a:r>
            <a:r>
              <a:rPr lang="en-US" sz="2387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*</a:t>
            </a:r>
            <a:r>
              <a:rPr lang="en-US" sz="238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387" b="tru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име_на_файл</a:t>
            </a:r>
            <a:r>
              <a:rPr lang="en-US" sz="2387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);</a:t>
            </a:r>
          </a:p>
          <a:p>
            <a:pPr algn="just">
              <a:lnSpc>
                <a:spcPts val="3342"/>
              </a:lnSpc>
            </a:pPr>
          </a:p>
          <a:p>
            <a:pPr algn="just">
              <a:lnSpc>
                <a:spcPts val="3342"/>
              </a:lnSpc>
            </a:pPr>
            <a:r>
              <a:rPr lang="en-US" sz="2387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Позициониране </a:t>
            </a:r>
            <a:r>
              <a:rPr lang="en-US" sz="238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в </a:t>
            </a:r>
            <a:r>
              <a:rPr lang="en-US" sz="2387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началото на файл</a:t>
            </a:r>
            <a:r>
              <a:rPr lang="en-US" sz="238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чрез</a:t>
            </a:r>
            <a:r>
              <a:rPr lang="en-US" sz="238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387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използването</a:t>
            </a:r>
            <a:r>
              <a:rPr lang="en-US" sz="238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на </a:t>
            </a:r>
            <a:r>
              <a:rPr lang="en-US" sz="2387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функция </a:t>
            </a:r>
            <a:r>
              <a:rPr lang="en-US" sz="2387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rewind</a:t>
            </a:r>
            <a:r>
              <a:rPr lang="en-US" sz="2387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()</a:t>
            </a:r>
            <a:r>
              <a:rPr lang="en-US" sz="238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с </a:t>
            </a:r>
            <a:r>
              <a:rPr lang="en-US" sz="2387" b="tru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прототип</a:t>
            </a:r>
            <a:r>
              <a:rPr lang="en-US" sz="238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 </a:t>
            </a:r>
          </a:p>
          <a:p>
            <a:pPr algn="just">
              <a:lnSpc>
                <a:spcPts val="3342"/>
              </a:lnSpc>
            </a:pPr>
          </a:p>
          <a:p>
            <a:pPr algn="just" marL="0" indent="0" lvl="0">
              <a:lnSpc>
                <a:spcPts val="3342"/>
              </a:lnSpc>
              <a:spcBef>
                <a:spcPct val="0"/>
              </a:spcBef>
            </a:pPr>
            <a:r>
              <a:rPr lang="en-US" b="true" sz="2387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</a:t>
            </a:r>
            <a:r>
              <a:rPr lang="en-US" b="true" sz="2387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nt </a:t>
            </a:r>
            <a:r>
              <a:rPr lang="en-US" b="true" sz="238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rewind</a:t>
            </a:r>
            <a:r>
              <a:rPr lang="en-US" b="true" sz="2387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</a:t>
            </a:r>
            <a:r>
              <a:rPr lang="en-US" b="true" sz="238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FILE</a:t>
            </a:r>
            <a:r>
              <a:rPr lang="en-US" b="true" sz="2387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387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*</a:t>
            </a:r>
            <a:r>
              <a:rPr lang="en-US" b="true" sz="2387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fp</a:t>
            </a:r>
            <a:r>
              <a:rPr lang="en-US" b="true" sz="2387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);</a:t>
            </a:r>
          </a:p>
          <a:p>
            <a:pPr algn="just" marL="0" indent="0" lvl="0">
              <a:lnSpc>
                <a:spcPts val="334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844104">
            <a:off x="8468478" y="111259"/>
            <a:ext cx="13471756" cy="1426670"/>
          </a:xfrm>
          <a:custGeom>
            <a:avLst/>
            <a:gdLst/>
            <a:ahLst/>
            <a:cxnLst/>
            <a:rect r="r" b="b" t="t" l="l"/>
            <a:pathLst>
              <a:path h="1426670" w="13471756">
                <a:moveTo>
                  <a:pt x="0" y="0"/>
                </a:moveTo>
                <a:lnTo>
                  <a:pt x="13471756" y="0"/>
                </a:lnTo>
                <a:lnTo>
                  <a:pt x="13471756" y="1426671"/>
                </a:lnTo>
                <a:lnTo>
                  <a:pt x="0" y="14266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6495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3783335" y="0"/>
            <a:ext cx="4504665" cy="2533874"/>
            <a:chOff x="0" y="0"/>
            <a:chExt cx="6089457" cy="34253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89457" cy="3425320"/>
            </a:xfrm>
            <a:custGeom>
              <a:avLst/>
              <a:gdLst/>
              <a:ahLst/>
              <a:cxnLst/>
              <a:rect r="r" b="b" t="t" l="l"/>
              <a:pathLst>
                <a:path h="3425320" w="6089457">
                  <a:moveTo>
                    <a:pt x="6089457" y="3425320"/>
                  </a:moveTo>
                  <a:lnTo>
                    <a:pt x="6089457" y="0"/>
                  </a:lnTo>
                  <a:lnTo>
                    <a:pt x="0" y="0"/>
                  </a:lnTo>
                  <a:cubicBezTo>
                    <a:pt x="2029819" y="1141773"/>
                    <a:pt x="4059638" y="2283546"/>
                    <a:pt x="6089457" y="3425320"/>
                  </a:cubicBezTo>
                  <a:close/>
                </a:path>
              </a:pathLst>
            </a:custGeom>
            <a:solidFill>
              <a:srgbClr val="539BE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89457" cy="3425320"/>
            </a:xfrm>
            <a:custGeom>
              <a:avLst/>
              <a:gdLst/>
              <a:ahLst/>
              <a:cxnLst/>
              <a:rect r="r" b="b" t="t" l="l"/>
              <a:pathLst>
                <a:path h="3425320" w="6089457">
                  <a:moveTo>
                    <a:pt x="6089457" y="3425320"/>
                  </a:moveTo>
                  <a:lnTo>
                    <a:pt x="6089457" y="0"/>
                  </a:lnTo>
                  <a:lnTo>
                    <a:pt x="0" y="0"/>
                  </a:lnTo>
                  <a:cubicBezTo>
                    <a:pt x="2029819" y="1141773"/>
                    <a:pt x="4059638" y="2283546"/>
                    <a:pt x="6089457" y="3425320"/>
                  </a:cubicBezTo>
                  <a:close/>
                </a:path>
              </a:pathLst>
            </a:custGeom>
            <a:blipFill>
              <a:blip r:embed="rId4"/>
              <a:stretch>
                <a:fillRect l="0" t="-9259" r="0" b="-9259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3633087" y="213023"/>
            <a:ext cx="7404740" cy="815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35"/>
              </a:lnSpc>
              <a:spcBef>
                <a:spcPct val="0"/>
              </a:spcBef>
            </a:pPr>
            <a:r>
              <a:rPr lang="en-US" sz="4736" spc="165">
                <a:solidFill>
                  <a:srgbClr val="010101"/>
                </a:solidFill>
                <a:latin typeface="Archivo Black"/>
                <a:ea typeface="Archivo Black"/>
                <a:cs typeface="Archivo Black"/>
                <a:sym typeface="Archivo Black"/>
              </a:rPr>
              <a:t>БИНАРНИ ФАЙЛОВЕ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12677" y="1768911"/>
            <a:ext cx="12434249" cy="3649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41"/>
              </a:lnSpc>
              <a:spcBef>
                <a:spcPct val="0"/>
              </a:spcBef>
            </a:pPr>
            <a:r>
              <a:rPr lang="en-US" b="true" sz="295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В </a:t>
            </a:r>
            <a:r>
              <a:rPr lang="en-US" b="true" sz="2958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С</a:t>
            </a:r>
            <a:r>
              <a:rPr lang="en-US" b="true" sz="295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са </a:t>
            </a:r>
            <a:r>
              <a:rPr lang="en-US" b="true" sz="2958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дефинирани</a:t>
            </a:r>
            <a:r>
              <a:rPr lang="en-US" b="true" sz="295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958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два режима</a:t>
            </a:r>
            <a:r>
              <a:rPr lang="en-US" b="true" sz="295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на работа: </a:t>
            </a:r>
            <a:r>
              <a:rPr lang="en-US" b="true" sz="2958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работа с текстови файлове</a:t>
            </a:r>
            <a:r>
              <a:rPr lang="en-US" b="true" sz="295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и </a:t>
            </a:r>
            <a:r>
              <a:rPr lang="en-US" b="true" sz="2958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работа</a:t>
            </a:r>
            <a:r>
              <a:rPr lang="en-US" b="true" sz="2958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с двоични файлове</a:t>
            </a:r>
            <a:r>
              <a:rPr lang="en-US" b="true" sz="2958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 Като </a:t>
            </a:r>
            <a:r>
              <a:rPr lang="en-US" b="true" sz="2958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няма съществена разлика</a:t>
            </a:r>
            <a:r>
              <a:rPr lang="en-US" b="true" sz="2958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между.</a:t>
            </a:r>
          </a:p>
          <a:p>
            <a:pPr algn="ctr" marL="0" indent="0" lvl="0">
              <a:lnSpc>
                <a:spcPts val="4141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4141"/>
              </a:lnSpc>
              <a:spcBef>
                <a:spcPct val="0"/>
              </a:spcBef>
            </a:pPr>
            <a:r>
              <a:rPr lang="en-US" b="true" sz="2958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Единствената разлика</a:t>
            </a:r>
            <a:r>
              <a:rPr lang="en-US" b="true" sz="2958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идва от </a:t>
            </a:r>
            <a:r>
              <a:rPr lang="en-US" b="true" sz="2958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интерпретирането</a:t>
            </a:r>
            <a:r>
              <a:rPr lang="en-US" b="true" sz="2958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на </a:t>
            </a:r>
            <a:r>
              <a:rPr lang="en-US" b="true" sz="2958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информацията</a:t>
            </a:r>
            <a:r>
              <a:rPr lang="en-US" b="true" sz="2958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</a:t>
            </a:r>
            <a:r>
              <a:rPr lang="en-US" b="true" sz="2958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данните</a:t>
            </a:r>
            <a:r>
              <a:rPr lang="en-US" b="true" sz="2958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) и </a:t>
            </a:r>
            <a:r>
              <a:rPr lang="en-US" b="true" sz="2958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различните налични функции</a:t>
            </a:r>
            <a:r>
              <a:rPr lang="en-US" b="true" sz="2958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за </a:t>
            </a:r>
            <a:r>
              <a:rPr lang="en-US" b="true" sz="2958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употреба</a:t>
            </a:r>
            <a:r>
              <a:rPr lang="en-US" b="true" sz="2958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7856" y="7068226"/>
            <a:ext cx="16268140" cy="2003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02"/>
              </a:lnSpc>
              <a:spcBef>
                <a:spcPct val="0"/>
              </a:spcBef>
            </a:pPr>
            <a:r>
              <a:rPr lang="en-US" b="true" sz="285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Когато се налага</a:t>
            </a:r>
            <a:r>
              <a:rPr lang="en-US" b="true" sz="2858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858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работа с текст</a:t>
            </a:r>
            <a:r>
              <a:rPr lang="en-US" b="true" sz="2858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в който</a:t>
            </a:r>
            <a:r>
              <a:rPr lang="en-US" b="true" sz="2858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858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всяка</a:t>
            </a:r>
            <a:r>
              <a:rPr lang="en-US" b="true" sz="2858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858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една</a:t>
            </a:r>
            <a:r>
              <a:rPr lang="en-US" b="true" sz="2858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858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буква</a:t>
            </a:r>
            <a:r>
              <a:rPr lang="en-US" b="true" sz="2858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858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се</a:t>
            </a:r>
            <a:r>
              <a:rPr lang="en-US" b="true" sz="2858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858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разглежда като символ</a:t>
            </a:r>
            <a:r>
              <a:rPr lang="en-US" b="true" sz="2858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</a:t>
            </a:r>
            <a:r>
              <a:rPr lang="en-US" b="true" sz="2858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по–добрият подход</a:t>
            </a:r>
            <a:r>
              <a:rPr lang="en-US" b="true" sz="2858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е да се </a:t>
            </a:r>
            <a:r>
              <a:rPr lang="en-US" b="true" sz="2858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използват текстови файлове</a:t>
            </a:r>
            <a:r>
              <a:rPr lang="en-US" b="true" sz="2858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 Когато обаче е </a:t>
            </a:r>
            <a:r>
              <a:rPr lang="en-US" b="true" sz="2858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необходимо</a:t>
            </a:r>
            <a:r>
              <a:rPr lang="en-US" b="true" sz="2858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да се </a:t>
            </a:r>
            <a:r>
              <a:rPr lang="en-US" b="true" sz="2858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работи с различен тип данни</a:t>
            </a:r>
            <a:r>
              <a:rPr lang="en-US" b="true" sz="2858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които </a:t>
            </a:r>
            <a:r>
              <a:rPr lang="en-US" b="true" sz="2858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изискват</a:t>
            </a:r>
            <a:r>
              <a:rPr lang="en-US" b="true" sz="2858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858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допълнителна обработка</a:t>
            </a:r>
            <a:r>
              <a:rPr lang="en-US" b="true" sz="2858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тогава </a:t>
            </a:r>
            <a:r>
              <a:rPr lang="en-US" b="true" sz="2858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по–добрия избор</a:t>
            </a:r>
            <a:r>
              <a:rPr lang="en-US" b="true" sz="2858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би бил </a:t>
            </a:r>
            <a:r>
              <a:rPr lang="en-US" b="true" sz="2858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работа с двоични файлове</a:t>
            </a:r>
            <a:r>
              <a:rPr lang="en-US" b="true" sz="2858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844104">
            <a:off x="8087761" y="374525"/>
            <a:ext cx="13471756" cy="1426670"/>
          </a:xfrm>
          <a:custGeom>
            <a:avLst/>
            <a:gdLst/>
            <a:ahLst/>
            <a:cxnLst/>
            <a:rect r="r" b="b" t="t" l="l"/>
            <a:pathLst>
              <a:path h="1426670" w="13471756">
                <a:moveTo>
                  <a:pt x="0" y="0"/>
                </a:moveTo>
                <a:lnTo>
                  <a:pt x="13471756" y="0"/>
                </a:lnTo>
                <a:lnTo>
                  <a:pt x="13471756" y="1426670"/>
                </a:lnTo>
                <a:lnTo>
                  <a:pt x="0" y="14266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6495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2992054" y="0"/>
            <a:ext cx="5295946" cy="2978970"/>
            <a:chOff x="0" y="0"/>
            <a:chExt cx="6089457" cy="34253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89457" cy="3425320"/>
            </a:xfrm>
            <a:custGeom>
              <a:avLst/>
              <a:gdLst/>
              <a:ahLst/>
              <a:cxnLst/>
              <a:rect r="r" b="b" t="t" l="l"/>
              <a:pathLst>
                <a:path h="3425320" w="6089457">
                  <a:moveTo>
                    <a:pt x="6089457" y="3425320"/>
                  </a:moveTo>
                  <a:lnTo>
                    <a:pt x="6089457" y="0"/>
                  </a:lnTo>
                  <a:lnTo>
                    <a:pt x="0" y="0"/>
                  </a:lnTo>
                  <a:cubicBezTo>
                    <a:pt x="2029819" y="1141773"/>
                    <a:pt x="4059638" y="2283546"/>
                    <a:pt x="6089457" y="3425320"/>
                  </a:cubicBezTo>
                  <a:close/>
                </a:path>
              </a:pathLst>
            </a:custGeom>
            <a:solidFill>
              <a:srgbClr val="539BE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89457" cy="3425320"/>
            </a:xfrm>
            <a:custGeom>
              <a:avLst/>
              <a:gdLst/>
              <a:ahLst/>
              <a:cxnLst/>
              <a:rect r="r" b="b" t="t" l="l"/>
              <a:pathLst>
                <a:path h="3425320" w="6089457">
                  <a:moveTo>
                    <a:pt x="6089457" y="3425320"/>
                  </a:moveTo>
                  <a:lnTo>
                    <a:pt x="6089457" y="0"/>
                  </a:lnTo>
                  <a:lnTo>
                    <a:pt x="0" y="0"/>
                  </a:lnTo>
                  <a:cubicBezTo>
                    <a:pt x="2029819" y="1141773"/>
                    <a:pt x="4059638" y="2283546"/>
                    <a:pt x="6089457" y="3425320"/>
                  </a:cubicBezTo>
                  <a:close/>
                </a:path>
              </a:pathLst>
            </a:custGeom>
            <a:blipFill>
              <a:blip r:embed="rId4"/>
              <a:stretch>
                <a:fillRect l="0" t="-9259" r="0" b="-9259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362384" y="299107"/>
            <a:ext cx="10736012" cy="729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83"/>
              </a:lnSpc>
              <a:spcBef>
                <a:spcPct val="0"/>
              </a:spcBef>
            </a:pPr>
            <a:r>
              <a:rPr lang="en-US" sz="4336" spc="151">
                <a:solidFill>
                  <a:srgbClr val="010101"/>
                </a:solidFill>
                <a:latin typeface="Archivo Black"/>
                <a:ea typeface="Archivo Black"/>
                <a:cs typeface="Archivo Black"/>
                <a:sym typeface="Archivo Black"/>
              </a:rPr>
              <a:t>БИНАРНИ ФАЙЛОВЕ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6313" y="1163113"/>
            <a:ext cx="11502082" cy="5839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7"/>
              </a:lnSpc>
            </a:pPr>
            <a:r>
              <a:rPr lang="en-US" sz="2197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Отварянето</a:t>
            </a:r>
            <a:r>
              <a:rPr lang="en-US" sz="219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на </a:t>
            </a:r>
            <a:r>
              <a:rPr lang="en-US" sz="2197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файл </a:t>
            </a:r>
            <a:r>
              <a:rPr lang="en-US" sz="219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е </a:t>
            </a:r>
            <a:r>
              <a:rPr lang="en-US" sz="2197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свързано</a:t>
            </a:r>
            <a:r>
              <a:rPr lang="en-US" sz="219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с </a:t>
            </a:r>
            <a:r>
              <a:rPr lang="en-US" sz="2197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работа в даден режим</a:t>
            </a:r>
            <a:r>
              <a:rPr lang="en-US" sz="219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  <a:p>
            <a:pPr algn="l">
              <a:lnSpc>
                <a:spcPts val="3077"/>
              </a:lnSpc>
            </a:pPr>
          </a:p>
          <a:p>
            <a:pPr algn="l">
              <a:lnSpc>
                <a:spcPts val="3077"/>
              </a:lnSpc>
            </a:pPr>
            <a:r>
              <a:rPr lang="en-US" sz="2197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rb</a:t>
            </a:r>
            <a:r>
              <a:rPr lang="en-US" sz="219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- </a:t>
            </a:r>
            <a:r>
              <a:rPr lang="en-US" sz="2197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отваря</a:t>
            </a:r>
            <a:r>
              <a:rPr lang="en-US" sz="2197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197" b="tru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двоичен файл</a:t>
            </a:r>
            <a:r>
              <a:rPr lang="en-US" sz="219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за</a:t>
            </a:r>
            <a:r>
              <a:rPr lang="en-US" sz="219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197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четене</a:t>
            </a:r>
            <a:r>
              <a:rPr lang="en-US" sz="219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  <a:p>
            <a:pPr algn="l">
              <a:lnSpc>
                <a:spcPts val="3077"/>
              </a:lnSpc>
            </a:pPr>
          </a:p>
          <a:p>
            <a:pPr algn="l" marL="0" indent="0" lvl="0">
              <a:lnSpc>
                <a:spcPts val="3077"/>
              </a:lnSpc>
              <a:spcBef>
                <a:spcPct val="0"/>
              </a:spcBef>
            </a:pPr>
            <a:r>
              <a:rPr lang="en-US" b="true" sz="2197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wb</a:t>
            </a:r>
            <a:r>
              <a:rPr lang="en-US" b="true" sz="219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- </a:t>
            </a:r>
            <a:r>
              <a:rPr lang="en-US" b="true" sz="2197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отваря </a:t>
            </a:r>
            <a:r>
              <a:rPr lang="en-US" b="true" sz="2197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двоичен файл</a:t>
            </a:r>
            <a:r>
              <a:rPr lang="en-US" b="true" sz="219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за </a:t>
            </a:r>
            <a:r>
              <a:rPr lang="en-US" b="true" sz="2197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запис</a:t>
            </a:r>
            <a:r>
              <a:rPr lang="en-US" b="true" sz="219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 Ако такъв</a:t>
            </a:r>
            <a:r>
              <a:rPr lang="en-US" b="true" sz="219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197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файл </a:t>
            </a:r>
            <a:r>
              <a:rPr lang="en-US" b="true" sz="2197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не съществува</a:t>
            </a:r>
            <a:r>
              <a:rPr lang="en-US" b="true" sz="219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този </a:t>
            </a:r>
            <a:r>
              <a:rPr lang="en-US" b="true" sz="2197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режим </a:t>
            </a:r>
            <a:r>
              <a:rPr lang="en-US" b="true" sz="219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го </a:t>
            </a:r>
            <a:r>
              <a:rPr lang="en-US" b="true" sz="2197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създава</a:t>
            </a:r>
            <a:r>
              <a:rPr lang="en-US" b="true" sz="219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 Ако </a:t>
            </a:r>
            <a:r>
              <a:rPr lang="en-US" b="true" sz="2197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съществува</a:t>
            </a:r>
            <a:r>
              <a:rPr lang="en-US" b="true" sz="219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то </a:t>
            </a:r>
            <a:r>
              <a:rPr lang="en-US" b="true" sz="2197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старото съдържание</a:t>
            </a:r>
            <a:r>
              <a:rPr lang="en-US" b="true" sz="219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се</a:t>
            </a:r>
            <a:r>
              <a:rPr lang="en-US" b="true" sz="2197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197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изтрива</a:t>
            </a:r>
            <a:r>
              <a:rPr lang="en-US" b="true" sz="2197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  <a:p>
            <a:pPr algn="l" marL="0" indent="0" lvl="0">
              <a:lnSpc>
                <a:spcPts val="3077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077"/>
              </a:lnSpc>
              <a:spcBef>
                <a:spcPct val="0"/>
              </a:spcBef>
            </a:pPr>
            <a:r>
              <a:rPr lang="en-US" b="true" sz="2197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ab</a:t>
            </a:r>
            <a:r>
              <a:rPr lang="en-US" b="true" sz="2197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- </a:t>
            </a:r>
            <a:r>
              <a:rPr lang="en-US" b="true" sz="2197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добавя </a:t>
            </a:r>
            <a:r>
              <a:rPr lang="en-US" b="true" sz="2197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съдържание </a:t>
            </a:r>
            <a:r>
              <a:rPr lang="en-US" b="true" sz="2197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към </a:t>
            </a:r>
            <a:r>
              <a:rPr lang="en-US" b="true" sz="2197" strike="noStrike" u="non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двоичен файл</a:t>
            </a:r>
            <a:r>
              <a:rPr lang="en-US" b="true" sz="2197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  <a:p>
            <a:pPr algn="l" marL="0" indent="0" lvl="0">
              <a:lnSpc>
                <a:spcPts val="3077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077"/>
              </a:lnSpc>
              <a:spcBef>
                <a:spcPct val="0"/>
              </a:spcBef>
            </a:pPr>
            <a:r>
              <a:rPr lang="en-US" b="true" sz="2197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rb</a:t>
            </a:r>
            <a:r>
              <a:rPr lang="en-US" b="true" sz="2197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+</a:t>
            </a:r>
            <a:r>
              <a:rPr lang="en-US" b="true" sz="2197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- </a:t>
            </a:r>
            <a:r>
              <a:rPr lang="en-US" b="true" sz="2197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отваря </a:t>
            </a:r>
            <a:r>
              <a:rPr lang="en-US" b="true" sz="2197" strike="noStrike" u="non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двоичен файл</a:t>
            </a:r>
            <a:r>
              <a:rPr lang="en-US" b="true" sz="2197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за </a:t>
            </a:r>
            <a:r>
              <a:rPr lang="en-US" b="true" sz="2197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четене </a:t>
            </a:r>
            <a:r>
              <a:rPr lang="en-US" b="true" sz="2197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 </a:t>
            </a:r>
            <a:r>
              <a:rPr lang="en-US" b="true" sz="2197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запис</a:t>
            </a:r>
            <a:r>
              <a:rPr lang="en-US" b="true" sz="2197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 </a:t>
            </a:r>
          </a:p>
          <a:p>
            <a:pPr algn="l" marL="0" indent="0" lvl="0">
              <a:lnSpc>
                <a:spcPts val="3077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077"/>
              </a:lnSpc>
              <a:spcBef>
                <a:spcPct val="0"/>
              </a:spcBef>
            </a:pPr>
            <a:r>
              <a:rPr lang="en-US" b="true" sz="2197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wb</a:t>
            </a:r>
            <a:r>
              <a:rPr lang="en-US" b="true" sz="2197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+</a:t>
            </a:r>
            <a:r>
              <a:rPr lang="en-US" b="true" sz="2197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- </a:t>
            </a:r>
            <a:r>
              <a:rPr lang="en-US" b="true" sz="2197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отваря </a:t>
            </a:r>
            <a:r>
              <a:rPr lang="en-US" b="true" sz="2197" strike="noStrike" u="non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двоичен файл</a:t>
            </a:r>
            <a:r>
              <a:rPr lang="en-US" b="true" sz="2197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за </a:t>
            </a:r>
            <a:r>
              <a:rPr lang="en-US" b="true" sz="2197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четене </a:t>
            </a:r>
            <a:r>
              <a:rPr lang="en-US" b="true" sz="2197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 </a:t>
            </a:r>
            <a:r>
              <a:rPr lang="en-US" b="true" sz="2197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запис</a:t>
            </a:r>
            <a:r>
              <a:rPr lang="en-US" b="true" sz="2197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  <a:p>
            <a:pPr algn="l" marL="0" indent="0" lvl="0">
              <a:lnSpc>
                <a:spcPts val="3077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077"/>
              </a:lnSpc>
              <a:spcBef>
                <a:spcPct val="0"/>
              </a:spcBef>
            </a:pPr>
            <a:r>
              <a:rPr lang="en-US" b="true" sz="2197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ab</a:t>
            </a:r>
            <a:r>
              <a:rPr lang="en-US" b="true" sz="2197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+</a:t>
            </a:r>
            <a:r>
              <a:rPr lang="en-US" b="true" sz="2197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-</a:t>
            </a:r>
            <a:r>
              <a:rPr lang="en-US" b="true" sz="2197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добавя </a:t>
            </a:r>
            <a:r>
              <a:rPr lang="en-US" b="true" sz="2197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към или </a:t>
            </a:r>
            <a:r>
              <a:rPr lang="en-US" b="true" sz="2197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създава</a:t>
            </a:r>
            <a:r>
              <a:rPr lang="en-US" b="true" sz="2197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197" strike="noStrike" u="non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двоичен файл</a:t>
            </a:r>
            <a:r>
              <a:rPr lang="en-US" b="true" sz="2197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за </a:t>
            </a:r>
            <a:r>
              <a:rPr lang="en-US" b="true" sz="2197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четене </a:t>
            </a:r>
            <a:r>
              <a:rPr lang="en-US" b="true" sz="2197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 </a:t>
            </a:r>
            <a:r>
              <a:rPr lang="en-US" b="true" sz="2197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запис</a:t>
            </a:r>
            <a:r>
              <a:rPr lang="en-US" b="true" sz="2197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 </a:t>
            </a:r>
          </a:p>
          <a:p>
            <a:pPr algn="l" marL="0" indent="0" lvl="0">
              <a:lnSpc>
                <a:spcPts val="3077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795708" y="6956708"/>
            <a:ext cx="15492292" cy="3330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Ако </a:t>
            </a:r>
            <a:r>
              <a:rPr lang="en-US" b="true" sz="2400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след компилирането</a:t>
            </a: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на </a:t>
            </a:r>
            <a:r>
              <a:rPr lang="en-US" b="true" sz="2400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дадената след това програма </a:t>
            </a:r>
            <a:r>
              <a:rPr lang="en-US" b="true" sz="2400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отворим </a:t>
            </a: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с </a:t>
            </a:r>
            <a:r>
              <a:rPr lang="en-US" b="true" sz="2400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текстов редактор</a:t>
            </a: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д</a:t>
            </a:r>
            <a:r>
              <a:rPr lang="en-US" b="true" sz="2400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вата файла</a:t>
            </a: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ще </a:t>
            </a:r>
            <a:r>
              <a:rPr lang="en-US" b="true" sz="2400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установим</a:t>
            </a: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че в </a:t>
            </a:r>
            <a:r>
              <a:rPr lang="en-US" b="true" sz="2400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текстовия файл</a:t>
            </a: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400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наистина </a:t>
            </a: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е </a:t>
            </a:r>
            <a:r>
              <a:rPr lang="en-US" b="true" sz="2400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записано числото</a:t>
            </a: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400">
                <a:solidFill>
                  <a:srgbClr val="FF66C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1500</a:t>
            </a: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(в </a:t>
            </a:r>
            <a:r>
              <a:rPr lang="en-US" b="true" sz="2400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дадения случай</a:t>
            </a: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), защото</a:t>
            </a:r>
            <a:r>
              <a:rPr lang="en-US" b="true" sz="24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4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функцията</a:t>
            </a:r>
            <a:r>
              <a:rPr lang="en-US" b="true" sz="24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4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fpr</a:t>
            </a:r>
            <a:r>
              <a:rPr lang="en-US" b="true" sz="24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</a:t>
            </a:r>
            <a:r>
              <a:rPr lang="en-US" b="true" sz="24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</a:t>
            </a:r>
            <a:r>
              <a:rPr lang="en-US" b="true" sz="24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</a:t>
            </a:r>
            <a:r>
              <a:rPr lang="en-US" b="true" sz="24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 </a:t>
            </a:r>
            <a:r>
              <a:rPr lang="en-US" b="true" sz="24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 </a:t>
            </a:r>
            <a:r>
              <a:rPr lang="en-US" b="true" sz="24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форматирала числото</a:t>
            </a:r>
            <a:r>
              <a:rPr lang="en-US" b="true" sz="24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4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като</a:t>
            </a:r>
            <a:r>
              <a:rPr lang="en-US" b="true" sz="24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4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низ от</a:t>
            </a:r>
            <a:r>
              <a:rPr lang="en-US" b="true" sz="24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4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символи</a:t>
            </a:r>
            <a:r>
              <a:rPr lang="en-US" b="true" sz="24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 При </a:t>
            </a:r>
            <a:r>
              <a:rPr lang="en-US" b="true" sz="2400" strike="noStrike" u="non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двоичния файл</a:t>
            </a:r>
            <a:r>
              <a:rPr lang="en-US" b="true" sz="24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ще </a:t>
            </a:r>
            <a:r>
              <a:rPr lang="en-US" b="true" sz="24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установим</a:t>
            </a:r>
            <a:r>
              <a:rPr lang="en-US" b="true" sz="24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че то е </a:t>
            </a:r>
            <a:r>
              <a:rPr lang="en-US" b="true" sz="24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записано </a:t>
            </a:r>
            <a:r>
              <a:rPr lang="en-US" b="true" sz="24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с </a:t>
            </a:r>
            <a:r>
              <a:rPr lang="en-US" b="true" sz="24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неговия вътрешен формат</a:t>
            </a:r>
            <a:r>
              <a:rPr lang="en-US" b="true" sz="24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 Този </a:t>
            </a:r>
            <a:r>
              <a:rPr lang="en-US" b="true" sz="24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пример показва</a:t>
            </a:r>
            <a:r>
              <a:rPr lang="en-US" b="true" sz="24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че </a:t>
            </a:r>
            <a:r>
              <a:rPr lang="en-US" b="true" sz="24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предимството</a:t>
            </a:r>
            <a:r>
              <a:rPr lang="en-US" b="true" sz="24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на </a:t>
            </a:r>
            <a:r>
              <a:rPr lang="en-US" b="true" sz="24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работата</a:t>
            </a:r>
            <a:r>
              <a:rPr lang="en-US" b="true" sz="24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с </a:t>
            </a:r>
            <a:r>
              <a:rPr lang="en-US" b="true" sz="2400" strike="noStrike" u="non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текстови файлове</a:t>
            </a:r>
            <a:r>
              <a:rPr lang="en-US" b="true" sz="24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е </a:t>
            </a:r>
            <a:r>
              <a:rPr lang="en-US" b="true" sz="24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по-добрата им възприемчивост</a:t>
            </a:r>
            <a:r>
              <a:rPr lang="en-US" b="true" sz="24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 </a:t>
            </a:r>
            <a:r>
              <a:rPr lang="en-US" b="true" sz="24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От друга страна</a:t>
            </a:r>
            <a:r>
              <a:rPr lang="en-US" b="true" sz="24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те са </a:t>
            </a:r>
            <a:r>
              <a:rPr lang="en-US" b="true" sz="24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по-бавни</a:t>
            </a:r>
            <a:r>
              <a:rPr lang="en-US" b="true" sz="24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заради </a:t>
            </a:r>
            <a:r>
              <a:rPr lang="en-US" b="true" sz="24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двойното им преобразуване</a:t>
            </a:r>
            <a:r>
              <a:rPr lang="en-US" b="true" sz="24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</a:t>
            </a:r>
            <a:r>
              <a:rPr lang="en-US" b="true" sz="24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заемат </a:t>
            </a:r>
            <a:r>
              <a:rPr lang="en-US" b="true" sz="24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повече място</a:t>
            </a:r>
            <a:r>
              <a:rPr lang="en-US" b="true" sz="24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и са </a:t>
            </a:r>
            <a:r>
              <a:rPr lang="en-US" b="true" sz="24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по-трудни</a:t>
            </a:r>
            <a:r>
              <a:rPr lang="en-US" b="true" sz="24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4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за обработка</a:t>
            </a:r>
            <a:r>
              <a:rPr lang="en-US" b="true" sz="24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при </a:t>
            </a:r>
            <a:r>
              <a:rPr lang="en-US" b="true" sz="24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различни типове данни</a:t>
            </a:r>
            <a:r>
              <a:rPr lang="en-US" b="true" sz="24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  <a:p>
            <a:pPr algn="ctr" marL="0" indent="0" lvl="0">
              <a:lnSpc>
                <a:spcPts val="33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844104">
            <a:off x="8087761" y="374525"/>
            <a:ext cx="13471756" cy="1426670"/>
          </a:xfrm>
          <a:custGeom>
            <a:avLst/>
            <a:gdLst/>
            <a:ahLst/>
            <a:cxnLst/>
            <a:rect r="r" b="b" t="t" l="l"/>
            <a:pathLst>
              <a:path h="1426670" w="13471756">
                <a:moveTo>
                  <a:pt x="0" y="0"/>
                </a:moveTo>
                <a:lnTo>
                  <a:pt x="13471756" y="0"/>
                </a:lnTo>
                <a:lnTo>
                  <a:pt x="13471756" y="1426670"/>
                </a:lnTo>
                <a:lnTo>
                  <a:pt x="0" y="14266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6495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2992054" y="0"/>
            <a:ext cx="5295946" cy="2978970"/>
            <a:chOff x="0" y="0"/>
            <a:chExt cx="6089457" cy="34253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89457" cy="3425320"/>
            </a:xfrm>
            <a:custGeom>
              <a:avLst/>
              <a:gdLst/>
              <a:ahLst/>
              <a:cxnLst/>
              <a:rect r="r" b="b" t="t" l="l"/>
              <a:pathLst>
                <a:path h="3425320" w="6089457">
                  <a:moveTo>
                    <a:pt x="6089457" y="3425320"/>
                  </a:moveTo>
                  <a:lnTo>
                    <a:pt x="6089457" y="0"/>
                  </a:lnTo>
                  <a:lnTo>
                    <a:pt x="0" y="0"/>
                  </a:lnTo>
                  <a:cubicBezTo>
                    <a:pt x="2029819" y="1141773"/>
                    <a:pt x="4059638" y="2283546"/>
                    <a:pt x="6089457" y="3425320"/>
                  </a:cubicBezTo>
                  <a:close/>
                </a:path>
              </a:pathLst>
            </a:custGeom>
            <a:solidFill>
              <a:srgbClr val="539BE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89457" cy="3425320"/>
            </a:xfrm>
            <a:custGeom>
              <a:avLst/>
              <a:gdLst/>
              <a:ahLst/>
              <a:cxnLst/>
              <a:rect r="r" b="b" t="t" l="l"/>
              <a:pathLst>
                <a:path h="3425320" w="6089457">
                  <a:moveTo>
                    <a:pt x="6089457" y="3425320"/>
                  </a:moveTo>
                  <a:lnTo>
                    <a:pt x="6089457" y="0"/>
                  </a:lnTo>
                  <a:lnTo>
                    <a:pt x="0" y="0"/>
                  </a:lnTo>
                  <a:cubicBezTo>
                    <a:pt x="2029819" y="1141773"/>
                    <a:pt x="4059638" y="2283546"/>
                    <a:pt x="6089457" y="3425320"/>
                  </a:cubicBezTo>
                  <a:close/>
                </a:path>
              </a:pathLst>
            </a:custGeom>
            <a:blipFill>
              <a:blip r:embed="rId4"/>
              <a:stretch>
                <a:fillRect l="0" t="-9259" r="0" b="-9259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264891" y="1489485"/>
            <a:ext cx="7454600" cy="8277587"/>
          </a:xfrm>
          <a:custGeom>
            <a:avLst/>
            <a:gdLst/>
            <a:ahLst/>
            <a:cxnLst/>
            <a:rect r="r" b="b" t="t" l="l"/>
            <a:pathLst>
              <a:path h="8277587" w="7454600">
                <a:moveTo>
                  <a:pt x="0" y="0"/>
                </a:moveTo>
                <a:lnTo>
                  <a:pt x="7454600" y="0"/>
                </a:lnTo>
                <a:lnTo>
                  <a:pt x="7454600" y="8277587"/>
                </a:lnTo>
                <a:lnTo>
                  <a:pt x="0" y="82775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257221" y="2342762"/>
            <a:ext cx="8572110" cy="7259713"/>
          </a:xfrm>
          <a:custGeom>
            <a:avLst/>
            <a:gdLst/>
            <a:ahLst/>
            <a:cxnLst/>
            <a:rect r="r" b="b" t="t" l="l"/>
            <a:pathLst>
              <a:path h="7259713" w="8572110">
                <a:moveTo>
                  <a:pt x="0" y="0"/>
                </a:moveTo>
                <a:lnTo>
                  <a:pt x="8572109" y="0"/>
                </a:lnTo>
                <a:lnTo>
                  <a:pt x="8572109" y="7259713"/>
                </a:lnTo>
                <a:lnTo>
                  <a:pt x="0" y="72597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62384" y="299107"/>
            <a:ext cx="10736012" cy="729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83"/>
              </a:lnSpc>
              <a:spcBef>
                <a:spcPct val="0"/>
              </a:spcBef>
            </a:pPr>
            <a:r>
              <a:rPr lang="en-US" sz="4336" spc="151">
                <a:solidFill>
                  <a:srgbClr val="010101"/>
                </a:solidFill>
                <a:latin typeface="Archivo Black"/>
                <a:ea typeface="Archivo Black"/>
                <a:cs typeface="Archivo Black"/>
                <a:sym typeface="Archivo Black"/>
              </a:rPr>
              <a:t>БИНАРНИ ФАЙЛОВЕ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711277">
            <a:off x="9496004" y="1055479"/>
            <a:ext cx="10771889" cy="1140752"/>
          </a:xfrm>
          <a:custGeom>
            <a:avLst/>
            <a:gdLst/>
            <a:ahLst/>
            <a:cxnLst/>
            <a:rect r="r" b="b" t="t" l="l"/>
            <a:pathLst>
              <a:path h="1140752" w="10771889">
                <a:moveTo>
                  <a:pt x="0" y="0"/>
                </a:moveTo>
                <a:lnTo>
                  <a:pt x="10771889" y="0"/>
                </a:lnTo>
                <a:lnTo>
                  <a:pt x="10771889" y="1140752"/>
                </a:lnTo>
                <a:lnTo>
                  <a:pt x="0" y="11407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6495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8949716">
            <a:off x="-2499341" y="8595778"/>
            <a:ext cx="10771889" cy="1140752"/>
          </a:xfrm>
          <a:custGeom>
            <a:avLst/>
            <a:gdLst/>
            <a:ahLst/>
            <a:cxnLst/>
            <a:rect r="r" b="b" t="t" l="l"/>
            <a:pathLst>
              <a:path h="1140752" w="10771889">
                <a:moveTo>
                  <a:pt x="0" y="0"/>
                </a:moveTo>
                <a:lnTo>
                  <a:pt x="10771889" y="0"/>
                </a:lnTo>
                <a:lnTo>
                  <a:pt x="10771889" y="1140752"/>
                </a:lnTo>
                <a:lnTo>
                  <a:pt x="0" y="11407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6495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-46214" y="7839327"/>
            <a:ext cx="4351419" cy="2447673"/>
            <a:chOff x="0" y="0"/>
            <a:chExt cx="6089457" cy="3425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89457" cy="3425320"/>
            </a:xfrm>
            <a:custGeom>
              <a:avLst/>
              <a:gdLst/>
              <a:ahLst/>
              <a:cxnLst/>
              <a:rect r="r" b="b" t="t" l="l"/>
              <a:pathLst>
                <a:path h="3425320" w="6089457">
                  <a:moveTo>
                    <a:pt x="0" y="0"/>
                  </a:moveTo>
                  <a:lnTo>
                    <a:pt x="0" y="3425320"/>
                  </a:lnTo>
                  <a:lnTo>
                    <a:pt x="6089457" y="3425320"/>
                  </a:lnTo>
                  <a:cubicBezTo>
                    <a:pt x="4059638" y="2283546"/>
                    <a:pt x="2029819" y="1141773"/>
                    <a:pt x="0" y="0"/>
                  </a:cubicBezTo>
                  <a:close/>
                </a:path>
              </a:pathLst>
            </a:custGeom>
            <a:solidFill>
              <a:srgbClr val="D94D4D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89457" cy="3425320"/>
            </a:xfrm>
            <a:custGeom>
              <a:avLst/>
              <a:gdLst/>
              <a:ahLst/>
              <a:cxnLst/>
              <a:rect r="r" b="b" t="t" l="l"/>
              <a:pathLst>
                <a:path h="3425320" w="6089457">
                  <a:moveTo>
                    <a:pt x="0" y="0"/>
                  </a:moveTo>
                  <a:lnTo>
                    <a:pt x="0" y="3425320"/>
                  </a:lnTo>
                  <a:lnTo>
                    <a:pt x="6089457" y="3425320"/>
                  </a:lnTo>
                  <a:cubicBezTo>
                    <a:pt x="4059638" y="2283546"/>
                    <a:pt x="2029819" y="1141773"/>
                    <a:pt x="0" y="0"/>
                  </a:cubicBezTo>
                  <a:close/>
                </a:path>
              </a:pathLst>
            </a:custGeom>
            <a:blipFill>
              <a:blip r:embed="rId4"/>
              <a:stretch>
                <a:fillRect l="-98184" t="-51103" r="-41729" b="-133327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2061878" y="0"/>
            <a:ext cx="6226122" cy="3502194"/>
            <a:chOff x="0" y="0"/>
            <a:chExt cx="6089457" cy="3425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089457" cy="3425320"/>
            </a:xfrm>
            <a:custGeom>
              <a:avLst/>
              <a:gdLst/>
              <a:ahLst/>
              <a:cxnLst/>
              <a:rect r="r" b="b" t="t" l="l"/>
              <a:pathLst>
                <a:path h="3425320" w="6089457">
                  <a:moveTo>
                    <a:pt x="6089457" y="3425320"/>
                  </a:moveTo>
                  <a:lnTo>
                    <a:pt x="6089457" y="0"/>
                  </a:lnTo>
                  <a:lnTo>
                    <a:pt x="0" y="0"/>
                  </a:lnTo>
                  <a:cubicBezTo>
                    <a:pt x="2029819" y="1141773"/>
                    <a:pt x="4059638" y="2283546"/>
                    <a:pt x="6089457" y="3425320"/>
                  </a:cubicBezTo>
                  <a:close/>
                </a:path>
              </a:pathLst>
            </a:custGeom>
            <a:solidFill>
              <a:srgbClr val="539BE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089457" cy="3425320"/>
            </a:xfrm>
            <a:custGeom>
              <a:avLst/>
              <a:gdLst/>
              <a:ahLst/>
              <a:cxnLst/>
              <a:rect r="r" b="b" t="t" l="l"/>
              <a:pathLst>
                <a:path h="3425320" w="6089457">
                  <a:moveTo>
                    <a:pt x="6089457" y="3425320"/>
                  </a:moveTo>
                  <a:lnTo>
                    <a:pt x="6089457" y="0"/>
                  </a:lnTo>
                  <a:lnTo>
                    <a:pt x="0" y="0"/>
                  </a:lnTo>
                  <a:cubicBezTo>
                    <a:pt x="2029819" y="1141773"/>
                    <a:pt x="4059638" y="2283546"/>
                    <a:pt x="6089457" y="3425320"/>
                  </a:cubicBezTo>
                  <a:close/>
                </a:path>
              </a:pathLst>
            </a:custGeom>
            <a:blipFill>
              <a:blip r:embed="rId5"/>
              <a:stretch>
                <a:fillRect l="0" t="-5555" r="0" b="-5555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123479" y="214748"/>
            <a:ext cx="6753819" cy="813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37"/>
              </a:lnSpc>
              <a:spcBef>
                <a:spcPct val="0"/>
              </a:spcBef>
            </a:pPr>
            <a:r>
              <a:rPr lang="en-US" sz="4809" spc="168">
                <a:solidFill>
                  <a:srgbClr val="010101"/>
                </a:solidFill>
                <a:latin typeface="Archivo Black"/>
                <a:ea typeface="Archivo Black"/>
                <a:cs typeface="Archivo Black"/>
                <a:sym typeface="Archivo Black"/>
              </a:rPr>
              <a:t>БИНАРНИ ФАЙЛОВЕ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6761" y="1452655"/>
            <a:ext cx="13741314" cy="2276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Какъв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е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6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основният</a:t>
            </a:r>
            <a:r>
              <a:rPr lang="en-US" b="true" sz="26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6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недостатък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на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6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тази програма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? Когато </a:t>
            </a:r>
            <a:r>
              <a:rPr lang="en-US" b="true" sz="26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четем от файла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ние </a:t>
            </a:r>
            <a:r>
              <a:rPr lang="en-US" b="true" sz="26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четем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6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дадените низове 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като </a:t>
            </a:r>
            <a:r>
              <a:rPr lang="en-US" b="true" sz="26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използваме 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това, че </a:t>
            </a:r>
            <a:r>
              <a:rPr lang="en-US" b="true" sz="26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знаем тяхната дължина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6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предварително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 </a:t>
            </a:r>
            <a:r>
              <a:rPr lang="en-US" b="true" sz="26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Основателен 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би бил </a:t>
            </a:r>
            <a:r>
              <a:rPr lang="en-US" b="true" sz="26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въпросът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6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възможно ли е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да се </a:t>
            </a:r>
            <a:r>
              <a:rPr lang="en-US" b="true" sz="26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напише програма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в която </a:t>
            </a:r>
            <a:r>
              <a:rPr lang="en-US" b="true" sz="26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програмистът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</a:t>
            </a:r>
            <a:r>
              <a:rPr lang="en-US" b="true" sz="26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който чете от файла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не знае </a:t>
            </a:r>
            <a:r>
              <a:rPr lang="en-US" b="true" sz="26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предварително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6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дължината на всеки низ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а само </a:t>
            </a:r>
            <a:r>
              <a:rPr lang="en-US" b="true" sz="26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подредбата на данните 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във </a:t>
            </a:r>
            <a:r>
              <a:rPr lang="en-US" b="true" sz="26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файла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5538" y="4160831"/>
            <a:ext cx="7885045" cy="537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Даден</a:t>
            </a:r>
            <a:r>
              <a:rPr lang="en-US" b="true" sz="3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файл има следния формат: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645" y="5259822"/>
            <a:ext cx="3502642" cy="514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</a:t>
            </a:r>
            <a:r>
              <a:rPr lang="en-US" b="true" sz="30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</a:t>
            </a:r>
            <a:r>
              <a:rPr lang="en-US" b="true" sz="30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</a:t>
            </a:r>
            <a:r>
              <a:rPr lang="en-US" b="true" sz="30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30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|</a:t>
            </a:r>
            <a:r>
              <a:rPr lang="en-US" b="true" sz="30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30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</a:t>
            </a:r>
            <a:r>
              <a:rPr lang="en-US" b="true" sz="30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</a:t>
            </a:r>
            <a:r>
              <a:rPr lang="en-US" b="true" sz="30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ring </a:t>
            </a:r>
            <a:r>
              <a:rPr lang="en-US" b="true" sz="30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|</a:t>
            </a:r>
            <a:r>
              <a:rPr lang="en-US" b="true" sz="30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3000" strike="noStrike" u="non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</a:t>
            </a:r>
            <a:r>
              <a:rPr lang="en-US" b="true" sz="3000" strike="noStrike" u="non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</a:t>
            </a:r>
            <a:r>
              <a:rPr lang="en-US" b="true" sz="3000" strike="noStrike" u="non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</a:t>
            </a:r>
            <a:r>
              <a:rPr lang="en-US" b="true" sz="3000" strike="noStrike" u="non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</a:t>
            </a:r>
            <a:r>
              <a:rPr lang="en-US" b="true" sz="3000" strike="noStrike" u="non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</a:t>
            </a:r>
            <a:r>
              <a:rPr lang="en-US" b="true" sz="3000" strike="noStrike" u="non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759860" y="4879105"/>
            <a:ext cx="10910094" cy="2184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В </a:t>
            </a:r>
            <a:r>
              <a:rPr lang="en-US" b="true" sz="2500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този случай</a:t>
            </a:r>
            <a:r>
              <a:rPr lang="en-US" b="true" sz="2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ние </a:t>
            </a:r>
            <a:r>
              <a:rPr lang="en-US" b="true" sz="2500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не знаем дължината</a:t>
            </a:r>
            <a:r>
              <a:rPr lang="en-US" b="true" sz="2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на </a:t>
            </a:r>
            <a:r>
              <a:rPr lang="en-US" b="true" sz="2500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дадения низ</a:t>
            </a:r>
            <a:r>
              <a:rPr lang="en-US" b="true" sz="2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 </a:t>
            </a:r>
            <a:r>
              <a:rPr lang="en-US" b="true" sz="2500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Съществуват </a:t>
            </a:r>
            <a:r>
              <a:rPr lang="en-US" b="true" sz="2500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два стандартни</a:t>
            </a:r>
            <a:r>
              <a:rPr lang="en-US" b="true" sz="2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500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начина за решение</a:t>
            </a:r>
            <a:r>
              <a:rPr lang="en-US" b="true" sz="2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на </a:t>
            </a:r>
            <a:r>
              <a:rPr lang="en-US" b="true" sz="2500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дадения проблем</a:t>
            </a:r>
            <a:r>
              <a:rPr lang="en-US" b="true" sz="2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 </a:t>
            </a:r>
            <a:r>
              <a:rPr lang="en-US" b="true" sz="2500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Първият начин</a:t>
            </a:r>
            <a:r>
              <a:rPr lang="en-US" b="true" sz="2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е когата </a:t>
            </a:r>
            <a:r>
              <a:rPr lang="en-US" b="true" sz="2500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записваме файла</a:t>
            </a:r>
            <a:r>
              <a:rPr lang="en-US" b="true" sz="2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да </a:t>
            </a:r>
            <a:r>
              <a:rPr lang="en-US" b="true" sz="2500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добавим</a:t>
            </a:r>
            <a:r>
              <a:rPr lang="en-US" b="true" sz="2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500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едно поле</a:t>
            </a:r>
            <a:r>
              <a:rPr lang="en-US" b="true" sz="2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от </a:t>
            </a:r>
            <a:r>
              <a:rPr lang="en-US" b="true" sz="2500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целочислен</a:t>
            </a:r>
            <a:r>
              <a:rPr lang="en-US" b="true" sz="25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5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тип</a:t>
            </a:r>
            <a:r>
              <a:rPr lang="en-US" b="true" sz="25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</a:t>
            </a:r>
            <a:r>
              <a:rPr lang="en-US" b="true" sz="25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5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което</a:t>
            </a:r>
            <a:r>
              <a:rPr lang="en-US" b="true" sz="25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5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показва дължината</a:t>
            </a:r>
            <a:r>
              <a:rPr lang="en-US" b="true" sz="25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5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на</a:t>
            </a:r>
            <a:r>
              <a:rPr lang="en-US" b="true" sz="25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5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дадения</a:t>
            </a:r>
            <a:r>
              <a:rPr lang="en-US" b="true" sz="25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5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низ</a:t>
            </a:r>
            <a:r>
              <a:rPr lang="en-US" b="true" sz="25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28439" y="7553599"/>
            <a:ext cx="6642254" cy="514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 </a:t>
            </a:r>
            <a:r>
              <a:rPr lang="en-US" b="true" sz="30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| </a:t>
            </a:r>
            <a:r>
              <a:rPr lang="en-US" b="true" sz="30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length of string</a:t>
            </a:r>
            <a:r>
              <a:rPr lang="en-US" b="true" sz="30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| </a:t>
            </a:r>
            <a:r>
              <a:rPr lang="en-US" b="true" sz="3000" strike="noStrike" u="non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string </a:t>
            </a:r>
            <a:r>
              <a:rPr lang="en-US" b="true" sz="30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| </a:t>
            </a:r>
            <a:r>
              <a:rPr lang="en-US" b="true" sz="3000" strike="noStrike" u="none">
                <a:solidFill>
                  <a:srgbClr val="00BF6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double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569501" y="8325929"/>
            <a:ext cx="12718499" cy="1417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80"/>
              </a:lnSpc>
              <a:spcBef>
                <a:spcPct val="0"/>
              </a:spcBef>
            </a:pPr>
            <a:r>
              <a:rPr lang="en-US" b="true" sz="27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7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В</a:t>
            </a:r>
            <a:r>
              <a:rPr lang="en-US" b="true" sz="27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7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този</a:t>
            </a:r>
            <a:r>
              <a:rPr lang="en-US" b="true" sz="27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7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случай</a:t>
            </a:r>
            <a:r>
              <a:rPr lang="en-US" b="true" sz="27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7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четем</a:t>
            </a:r>
            <a:r>
              <a:rPr lang="en-US" b="true" sz="27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7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</a:t>
            </a:r>
            <a:r>
              <a:rPr lang="en-US" b="true" sz="27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7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записваме </a:t>
            </a:r>
            <a:r>
              <a:rPr lang="en-US" b="true" sz="27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целочислена стойност</a:t>
            </a:r>
            <a:r>
              <a:rPr lang="en-US" b="true" sz="27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след това </a:t>
            </a:r>
            <a:r>
              <a:rPr lang="en-US" b="true" sz="27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четем байтове</a:t>
            </a:r>
            <a:r>
              <a:rPr lang="en-US" b="true" sz="27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7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на брой</a:t>
            </a:r>
            <a:r>
              <a:rPr lang="en-US" b="true" sz="27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7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дължината на низа</a:t>
            </a:r>
            <a:r>
              <a:rPr lang="en-US" b="true" sz="27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и </a:t>
            </a:r>
            <a:r>
              <a:rPr lang="en-US" b="true" sz="27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накрая четем </a:t>
            </a:r>
            <a:r>
              <a:rPr lang="en-US" b="true" sz="27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числена стойност</a:t>
            </a:r>
            <a:r>
              <a:rPr lang="en-US" b="true" sz="27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с </a:t>
            </a:r>
            <a:r>
              <a:rPr lang="en-US" b="true" sz="27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двойна точност</a:t>
            </a:r>
            <a:r>
              <a:rPr lang="en-US" b="true" sz="27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711277">
            <a:off x="9496004" y="1055479"/>
            <a:ext cx="10771889" cy="1140752"/>
          </a:xfrm>
          <a:custGeom>
            <a:avLst/>
            <a:gdLst/>
            <a:ahLst/>
            <a:cxnLst/>
            <a:rect r="r" b="b" t="t" l="l"/>
            <a:pathLst>
              <a:path h="1140752" w="10771889">
                <a:moveTo>
                  <a:pt x="0" y="0"/>
                </a:moveTo>
                <a:lnTo>
                  <a:pt x="10771889" y="0"/>
                </a:lnTo>
                <a:lnTo>
                  <a:pt x="10771889" y="1140752"/>
                </a:lnTo>
                <a:lnTo>
                  <a:pt x="0" y="11407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6495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8949716">
            <a:off x="-2499341" y="8595778"/>
            <a:ext cx="10771889" cy="1140752"/>
          </a:xfrm>
          <a:custGeom>
            <a:avLst/>
            <a:gdLst/>
            <a:ahLst/>
            <a:cxnLst/>
            <a:rect r="r" b="b" t="t" l="l"/>
            <a:pathLst>
              <a:path h="1140752" w="10771889">
                <a:moveTo>
                  <a:pt x="0" y="0"/>
                </a:moveTo>
                <a:lnTo>
                  <a:pt x="10771889" y="0"/>
                </a:lnTo>
                <a:lnTo>
                  <a:pt x="10771889" y="1140752"/>
                </a:lnTo>
                <a:lnTo>
                  <a:pt x="0" y="11407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6495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-46214" y="7839327"/>
            <a:ext cx="4351419" cy="2447673"/>
            <a:chOff x="0" y="0"/>
            <a:chExt cx="6089457" cy="3425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89457" cy="3425320"/>
            </a:xfrm>
            <a:custGeom>
              <a:avLst/>
              <a:gdLst/>
              <a:ahLst/>
              <a:cxnLst/>
              <a:rect r="r" b="b" t="t" l="l"/>
              <a:pathLst>
                <a:path h="3425320" w="6089457">
                  <a:moveTo>
                    <a:pt x="0" y="0"/>
                  </a:moveTo>
                  <a:lnTo>
                    <a:pt x="0" y="3425320"/>
                  </a:lnTo>
                  <a:lnTo>
                    <a:pt x="6089457" y="3425320"/>
                  </a:lnTo>
                  <a:cubicBezTo>
                    <a:pt x="4059638" y="2283546"/>
                    <a:pt x="2029819" y="1141773"/>
                    <a:pt x="0" y="0"/>
                  </a:cubicBezTo>
                  <a:close/>
                </a:path>
              </a:pathLst>
            </a:custGeom>
            <a:solidFill>
              <a:srgbClr val="D94D4D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89457" cy="3425320"/>
            </a:xfrm>
            <a:custGeom>
              <a:avLst/>
              <a:gdLst/>
              <a:ahLst/>
              <a:cxnLst/>
              <a:rect r="r" b="b" t="t" l="l"/>
              <a:pathLst>
                <a:path h="3425320" w="6089457">
                  <a:moveTo>
                    <a:pt x="0" y="0"/>
                  </a:moveTo>
                  <a:lnTo>
                    <a:pt x="0" y="3425320"/>
                  </a:lnTo>
                  <a:lnTo>
                    <a:pt x="6089457" y="3425320"/>
                  </a:lnTo>
                  <a:cubicBezTo>
                    <a:pt x="4059638" y="2283546"/>
                    <a:pt x="2029819" y="1141773"/>
                    <a:pt x="0" y="0"/>
                  </a:cubicBezTo>
                  <a:close/>
                </a:path>
              </a:pathLst>
            </a:custGeom>
            <a:blipFill>
              <a:blip r:embed="rId4"/>
              <a:stretch>
                <a:fillRect l="-98184" t="-51103" r="-41729" b="-133327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2061878" y="0"/>
            <a:ext cx="6226122" cy="3502194"/>
            <a:chOff x="0" y="0"/>
            <a:chExt cx="6089457" cy="3425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089457" cy="3425320"/>
            </a:xfrm>
            <a:custGeom>
              <a:avLst/>
              <a:gdLst/>
              <a:ahLst/>
              <a:cxnLst/>
              <a:rect r="r" b="b" t="t" l="l"/>
              <a:pathLst>
                <a:path h="3425320" w="6089457">
                  <a:moveTo>
                    <a:pt x="6089457" y="3425320"/>
                  </a:moveTo>
                  <a:lnTo>
                    <a:pt x="6089457" y="0"/>
                  </a:lnTo>
                  <a:lnTo>
                    <a:pt x="0" y="0"/>
                  </a:lnTo>
                  <a:cubicBezTo>
                    <a:pt x="2029819" y="1141773"/>
                    <a:pt x="4059638" y="2283546"/>
                    <a:pt x="6089457" y="3425320"/>
                  </a:cubicBezTo>
                  <a:close/>
                </a:path>
              </a:pathLst>
            </a:custGeom>
            <a:solidFill>
              <a:srgbClr val="539BE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089457" cy="3425320"/>
            </a:xfrm>
            <a:custGeom>
              <a:avLst/>
              <a:gdLst/>
              <a:ahLst/>
              <a:cxnLst/>
              <a:rect r="r" b="b" t="t" l="l"/>
              <a:pathLst>
                <a:path h="3425320" w="6089457">
                  <a:moveTo>
                    <a:pt x="6089457" y="3425320"/>
                  </a:moveTo>
                  <a:lnTo>
                    <a:pt x="6089457" y="0"/>
                  </a:lnTo>
                  <a:lnTo>
                    <a:pt x="0" y="0"/>
                  </a:lnTo>
                  <a:cubicBezTo>
                    <a:pt x="2029819" y="1141773"/>
                    <a:pt x="4059638" y="2283546"/>
                    <a:pt x="6089457" y="3425320"/>
                  </a:cubicBezTo>
                  <a:close/>
                </a:path>
              </a:pathLst>
            </a:custGeom>
            <a:blipFill>
              <a:blip r:embed="rId5"/>
              <a:stretch>
                <a:fillRect l="0" t="-5555" r="0" b="-5555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123479" y="214748"/>
            <a:ext cx="6753819" cy="813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37"/>
              </a:lnSpc>
              <a:spcBef>
                <a:spcPct val="0"/>
              </a:spcBef>
            </a:pPr>
            <a:r>
              <a:rPr lang="en-US" sz="4809" spc="168">
                <a:solidFill>
                  <a:srgbClr val="010101"/>
                </a:solidFill>
                <a:latin typeface="Archivo Black"/>
                <a:ea typeface="Archivo Black"/>
                <a:cs typeface="Archivo Black"/>
                <a:sym typeface="Archivo Black"/>
              </a:rPr>
              <a:t>БИНАРНИ ФАЙЛОВЕ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6761" y="1452655"/>
            <a:ext cx="13741314" cy="2276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При </a:t>
            </a:r>
            <a:r>
              <a:rPr lang="en-US" b="true" sz="26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втория</a:t>
            </a:r>
            <a:r>
              <a:rPr lang="en-US" b="true" sz="26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6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начин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6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</a:t>
            </a:r>
            <a:r>
              <a:rPr lang="en-US" b="true" sz="26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збираме един специален символ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</a:t>
            </a:r>
            <a:r>
              <a:rPr lang="en-US" b="true" sz="26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който ще ни служи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за </a:t>
            </a:r>
            <a:r>
              <a:rPr lang="en-US" b="true" sz="26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край на низа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например</a:t>
            </a:r>
            <a:r>
              <a:rPr lang="en-US" b="true" sz="26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“</a:t>
            </a:r>
            <a:r>
              <a:rPr lang="en-US" b="true" sz="26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; ”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. </a:t>
            </a:r>
            <a:r>
              <a:rPr lang="en-US" b="true" sz="26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Дължината на низа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се </a:t>
            </a:r>
            <a:r>
              <a:rPr lang="en-US" b="true" sz="26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определя от избрания разделител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 </a:t>
            </a:r>
            <a:r>
              <a:rPr lang="en-US" b="true" sz="26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Този метод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обаче е </a:t>
            </a:r>
            <a:r>
              <a:rPr lang="en-US" b="true" sz="26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свързан с изрична забрана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на </a:t>
            </a:r>
            <a:r>
              <a:rPr lang="en-US" b="true" sz="26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дадения символ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за </a:t>
            </a:r>
            <a:r>
              <a:rPr lang="en-US" b="true" sz="26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използването му в низа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 </a:t>
            </a:r>
            <a:r>
              <a:rPr lang="en-US" b="true" sz="26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Недостатък 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на </a:t>
            </a:r>
            <a:r>
              <a:rPr lang="en-US" b="true" sz="26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този метод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е </a:t>
            </a:r>
            <a:r>
              <a:rPr lang="en-US" b="true" sz="2600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необходимостта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от </a:t>
            </a:r>
            <a:r>
              <a:rPr lang="en-US" b="true" sz="26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проверката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600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на всички символи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6761" y="4158279"/>
            <a:ext cx="13065512" cy="481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Нека </a:t>
            </a:r>
            <a:r>
              <a:rPr lang="en-US" sz="2800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покажем</a:t>
            </a:r>
            <a:r>
              <a:rPr lang="en-US" sz="28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800" b="tru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един пример</a:t>
            </a:r>
            <a:r>
              <a:rPr lang="en-US" b="true" sz="2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как би </a:t>
            </a:r>
            <a:r>
              <a:rPr lang="en-US" b="true" sz="2800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изглеждала</a:t>
            </a:r>
            <a:r>
              <a:rPr lang="en-US" b="true" sz="2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една </a:t>
            </a:r>
            <a:r>
              <a:rPr lang="en-US" b="true" sz="2800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такава задача</a:t>
            </a:r>
            <a:r>
              <a:rPr lang="en-US" b="true" sz="2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29004" y="5355945"/>
            <a:ext cx="15630296" cy="2369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12"/>
              </a:lnSpc>
              <a:spcBef>
                <a:spcPct val="0"/>
              </a:spcBef>
            </a:pPr>
            <a:r>
              <a:rPr lang="en-US" b="true" sz="272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723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Да се реализира програма</a:t>
            </a:r>
            <a:r>
              <a:rPr lang="en-US" b="true" sz="272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за </a:t>
            </a:r>
            <a:r>
              <a:rPr lang="en-US" b="true" sz="2723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четене </a:t>
            </a:r>
            <a:r>
              <a:rPr lang="en-US" b="true" sz="272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 </a:t>
            </a:r>
            <a:r>
              <a:rPr lang="en-US" b="true" sz="2723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запис </a:t>
            </a:r>
            <a:r>
              <a:rPr lang="en-US" b="true" sz="272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във </a:t>
            </a:r>
            <a:r>
              <a:rPr lang="en-US" b="true" sz="2723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файл</a:t>
            </a:r>
            <a:r>
              <a:rPr lang="en-US" b="true" sz="272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чрез </a:t>
            </a:r>
            <a:r>
              <a:rPr lang="en-US" b="true" sz="2723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меню за избор</a:t>
            </a:r>
            <a:r>
              <a:rPr lang="en-US" b="true" sz="272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 </a:t>
            </a:r>
            <a:r>
              <a:rPr lang="en-US" b="true" sz="2723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Да се реализират</a:t>
            </a:r>
            <a:r>
              <a:rPr lang="en-US" b="true" sz="272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723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полета както следва</a:t>
            </a:r>
            <a:r>
              <a:rPr lang="en-US" b="true" sz="272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 </a:t>
            </a:r>
            <a:r>
              <a:rPr lang="en-US" b="true" sz="2723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идентификационен номер на дадена стока</a:t>
            </a:r>
            <a:r>
              <a:rPr lang="en-US" b="true" sz="272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</a:t>
            </a:r>
            <a:r>
              <a:rPr lang="en-US" b="true" sz="2723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име на стока с технически характеристики</a:t>
            </a:r>
            <a:r>
              <a:rPr lang="en-US" b="true" sz="272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, </a:t>
            </a:r>
            <a:r>
              <a:rPr lang="en-US" b="true" sz="2723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цена на дадената стока</a:t>
            </a:r>
            <a:r>
              <a:rPr lang="en-US" b="true" sz="272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 </a:t>
            </a:r>
            <a:r>
              <a:rPr lang="en-US" b="true" sz="2723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Четенето от файл</a:t>
            </a:r>
            <a:r>
              <a:rPr lang="en-US" b="true" sz="272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723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да се реализира</a:t>
            </a:r>
            <a:r>
              <a:rPr lang="en-US" b="true" sz="272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като </a:t>
            </a:r>
            <a:r>
              <a:rPr lang="en-US" b="true" sz="2723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по зададен идентификационен номер</a:t>
            </a:r>
            <a:r>
              <a:rPr lang="en-US" b="true" sz="272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723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на екрана</a:t>
            </a:r>
            <a:r>
              <a:rPr lang="en-US" b="true" sz="2723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да се </a:t>
            </a:r>
            <a:r>
              <a:rPr lang="en-US" b="true" sz="2723" strike="noStrike" u="non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отпечатват всички полета</a:t>
            </a:r>
            <a:r>
              <a:rPr lang="en-US" b="true" sz="2723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723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на</a:t>
            </a:r>
            <a:r>
              <a:rPr lang="en-US" b="true" sz="2723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723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дадената</a:t>
            </a:r>
            <a:r>
              <a:rPr lang="en-US" b="true" sz="2723" strike="noStrike" u="non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стока</a:t>
            </a:r>
            <a:r>
              <a:rPr lang="en-US" b="true" sz="2723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711277">
            <a:off x="9496004" y="1055479"/>
            <a:ext cx="10771889" cy="1140752"/>
          </a:xfrm>
          <a:custGeom>
            <a:avLst/>
            <a:gdLst/>
            <a:ahLst/>
            <a:cxnLst/>
            <a:rect r="r" b="b" t="t" l="l"/>
            <a:pathLst>
              <a:path h="1140752" w="10771889">
                <a:moveTo>
                  <a:pt x="0" y="0"/>
                </a:moveTo>
                <a:lnTo>
                  <a:pt x="10771889" y="0"/>
                </a:lnTo>
                <a:lnTo>
                  <a:pt x="10771889" y="1140752"/>
                </a:lnTo>
                <a:lnTo>
                  <a:pt x="0" y="11407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6495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8949716">
            <a:off x="-2499341" y="8595778"/>
            <a:ext cx="10771889" cy="1140752"/>
          </a:xfrm>
          <a:custGeom>
            <a:avLst/>
            <a:gdLst/>
            <a:ahLst/>
            <a:cxnLst/>
            <a:rect r="r" b="b" t="t" l="l"/>
            <a:pathLst>
              <a:path h="1140752" w="10771889">
                <a:moveTo>
                  <a:pt x="0" y="0"/>
                </a:moveTo>
                <a:lnTo>
                  <a:pt x="10771889" y="0"/>
                </a:lnTo>
                <a:lnTo>
                  <a:pt x="10771889" y="1140752"/>
                </a:lnTo>
                <a:lnTo>
                  <a:pt x="0" y="11407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6495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-46214" y="7839327"/>
            <a:ext cx="4351419" cy="2447673"/>
            <a:chOff x="0" y="0"/>
            <a:chExt cx="6089457" cy="3425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89457" cy="3425320"/>
            </a:xfrm>
            <a:custGeom>
              <a:avLst/>
              <a:gdLst/>
              <a:ahLst/>
              <a:cxnLst/>
              <a:rect r="r" b="b" t="t" l="l"/>
              <a:pathLst>
                <a:path h="3425320" w="6089457">
                  <a:moveTo>
                    <a:pt x="0" y="0"/>
                  </a:moveTo>
                  <a:lnTo>
                    <a:pt x="0" y="3425320"/>
                  </a:lnTo>
                  <a:lnTo>
                    <a:pt x="6089457" y="3425320"/>
                  </a:lnTo>
                  <a:cubicBezTo>
                    <a:pt x="4059638" y="2283546"/>
                    <a:pt x="2029819" y="1141773"/>
                    <a:pt x="0" y="0"/>
                  </a:cubicBezTo>
                  <a:close/>
                </a:path>
              </a:pathLst>
            </a:custGeom>
            <a:solidFill>
              <a:srgbClr val="D94D4D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89457" cy="3425320"/>
            </a:xfrm>
            <a:custGeom>
              <a:avLst/>
              <a:gdLst/>
              <a:ahLst/>
              <a:cxnLst/>
              <a:rect r="r" b="b" t="t" l="l"/>
              <a:pathLst>
                <a:path h="3425320" w="6089457">
                  <a:moveTo>
                    <a:pt x="0" y="0"/>
                  </a:moveTo>
                  <a:lnTo>
                    <a:pt x="0" y="3425320"/>
                  </a:lnTo>
                  <a:lnTo>
                    <a:pt x="6089457" y="3425320"/>
                  </a:lnTo>
                  <a:cubicBezTo>
                    <a:pt x="4059638" y="2283546"/>
                    <a:pt x="2029819" y="1141773"/>
                    <a:pt x="0" y="0"/>
                  </a:cubicBezTo>
                  <a:close/>
                </a:path>
              </a:pathLst>
            </a:custGeom>
            <a:blipFill>
              <a:blip r:embed="rId4"/>
              <a:stretch>
                <a:fillRect l="-98184" t="-51103" r="-41729" b="-133327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2061878" y="0"/>
            <a:ext cx="6226122" cy="3502194"/>
            <a:chOff x="0" y="0"/>
            <a:chExt cx="6089457" cy="3425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089457" cy="3425320"/>
            </a:xfrm>
            <a:custGeom>
              <a:avLst/>
              <a:gdLst/>
              <a:ahLst/>
              <a:cxnLst/>
              <a:rect r="r" b="b" t="t" l="l"/>
              <a:pathLst>
                <a:path h="3425320" w="6089457">
                  <a:moveTo>
                    <a:pt x="6089457" y="3425320"/>
                  </a:moveTo>
                  <a:lnTo>
                    <a:pt x="6089457" y="0"/>
                  </a:lnTo>
                  <a:lnTo>
                    <a:pt x="0" y="0"/>
                  </a:lnTo>
                  <a:cubicBezTo>
                    <a:pt x="2029819" y="1141773"/>
                    <a:pt x="4059638" y="2283546"/>
                    <a:pt x="6089457" y="3425320"/>
                  </a:cubicBezTo>
                  <a:close/>
                </a:path>
              </a:pathLst>
            </a:custGeom>
            <a:solidFill>
              <a:srgbClr val="539BE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089457" cy="3425320"/>
            </a:xfrm>
            <a:custGeom>
              <a:avLst/>
              <a:gdLst/>
              <a:ahLst/>
              <a:cxnLst/>
              <a:rect r="r" b="b" t="t" l="l"/>
              <a:pathLst>
                <a:path h="3425320" w="6089457">
                  <a:moveTo>
                    <a:pt x="6089457" y="3425320"/>
                  </a:moveTo>
                  <a:lnTo>
                    <a:pt x="6089457" y="0"/>
                  </a:lnTo>
                  <a:lnTo>
                    <a:pt x="0" y="0"/>
                  </a:lnTo>
                  <a:cubicBezTo>
                    <a:pt x="2029819" y="1141773"/>
                    <a:pt x="4059638" y="2283546"/>
                    <a:pt x="6089457" y="3425320"/>
                  </a:cubicBezTo>
                  <a:close/>
                </a:path>
              </a:pathLst>
            </a:custGeom>
            <a:blipFill>
              <a:blip r:embed="rId5"/>
              <a:stretch>
                <a:fillRect l="0" t="-5555" r="0" b="-5555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2886603" y="1625855"/>
            <a:ext cx="11884822" cy="7799414"/>
          </a:xfrm>
          <a:custGeom>
            <a:avLst/>
            <a:gdLst/>
            <a:ahLst/>
            <a:cxnLst/>
            <a:rect r="r" b="b" t="t" l="l"/>
            <a:pathLst>
              <a:path h="7799414" w="11884822">
                <a:moveTo>
                  <a:pt x="0" y="0"/>
                </a:moveTo>
                <a:lnTo>
                  <a:pt x="11884822" y="0"/>
                </a:lnTo>
                <a:lnTo>
                  <a:pt x="11884822" y="7799414"/>
                </a:lnTo>
                <a:lnTo>
                  <a:pt x="0" y="77994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123479" y="214748"/>
            <a:ext cx="6753819" cy="813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37"/>
              </a:lnSpc>
              <a:spcBef>
                <a:spcPct val="0"/>
              </a:spcBef>
            </a:pPr>
            <a:r>
              <a:rPr lang="en-US" sz="4809" spc="168">
                <a:solidFill>
                  <a:srgbClr val="010101"/>
                </a:solidFill>
                <a:latin typeface="Archivo Black"/>
                <a:ea typeface="Archivo Black"/>
                <a:cs typeface="Archivo Black"/>
                <a:sym typeface="Archivo Black"/>
              </a:rPr>
              <a:t>БИНАРНИ ФАЙЛОВЕ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711277">
            <a:off x="10120802" y="870975"/>
            <a:ext cx="10771889" cy="1140752"/>
          </a:xfrm>
          <a:custGeom>
            <a:avLst/>
            <a:gdLst/>
            <a:ahLst/>
            <a:cxnLst/>
            <a:rect r="r" b="b" t="t" l="l"/>
            <a:pathLst>
              <a:path h="1140752" w="10771889">
                <a:moveTo>
                  <a:pt x="0" y="0"/>
                </a:moveTo>
                <a:lnTo>
                  <a:pt x="10771889" y="0"/>
                </a:lnTo>
                <a:lnTo>
                  <a:pt x="10771889" y="1140752"/>
                </a:lnTo>
                <a:lnTo>
                  <a:pt x="0" y="11407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6495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8949716">
            <a:off x="-2499341" y="8595778"/>
            <a:ext cx="10771889" cy="1140752"/>
          </a:xfrm>
          <a:custGeom>
            <a:avLst/>
            <a:gdLst/>
            <a:ahLst/>
            <a:cxnLst/>
            <a:rect r="r" b="b" t="t" l="l"/>
            <a:pathLst>
              <a:path h="1140752" w="10771889">
                <a:moveTo>
                  <a:pt x="0" y="0"/>
                </a:moveTo>
                <a:lnTo>
                  <a:pt x="10771889" y="0"/>
                </a:lnTo>
                <a:lnTo>
                  <a:pt x="10771889" y="1140752"/>
                </a:lnTo>
                <a:lnTo>
                  <a:pt x="0" y="11407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6495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-46214" y="7839327"/>
            <a:ext cx="4351419" cy="2447673"/>
            <a:chOff x="0" y="0"/>
            <a:chExt cx="6089457" cy="3425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89457" cy="3425320"/>
            </a:xfrm>
            <a:custGeom>
              <a:avLst/>
              <a:gdLst/>
              <a:ahLst/>
              <a:cxnLst/>
              <a:rect r="r" b="b" t="t" l="l"/>
              <a:pathLst>
                <a:path h="3425320" w="6089457">
                  <a:moveTo>
                    <a:pt x="0" y="0"/>
                  </a:moveTo>
                  <a:lnTo>
                    <a:pt x="0" y="3425320"/>
                  </a:lnTo>
                  <a:lnTo>
                    <a:pt x="6089457" y="3425320"/>
                  </a:lnTo>
                  <a:cubicBezTo>
                    <a:pt x="4059638" y="2283546"/>
                    <a:pt x="2029819" y="1141773"/>
                    <a:pt x="0" y="0"/>
                  </a:cubicBezTo>
                  <a:close/>
                </a:path>
              </a:pathLst>
            </a:custGeom>
            <a:solidFill>
              <a:srgbClr val="D94D4D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89457" cy="3425320"/>
            </a:xfrm>
            <a:custGeom>
              <a:avLst/>
              <a:gdLst/>
              <a:ahLst/>
              <a:cxnLst/>
              <a:rect r="r" b="b" t="t" l="l"/>
              <a:pathLst>
                <a:path h="3425320" w="6089457">
                  <a:moveTo>
                    <a:pt x="0" y="0"/>
                  </a:moveTo>
                  <a:lnTo>
                    <a:pt x="0" y="3425320"/>
                  </a:lnTo>
                  <a:lnTo>
                    <a:pt x="6089457" y="3425320"/>
                  </a:lnTo>
                  <a:cubicBezTo>
                    <a:pt x="4059638" y="2283546"/>
                    <a:pt x="2029819" y="1141773"/>
                    <a:pt x="0" y="0"/>
                  </a:cubicBezTo>
                  <a:close/>
                </a:path>
              </a:pathLst>
            </a:custGeom>
            <a:blipFill>
              <a:blip r:embed="rId4"/>
              <a:stretch>
                <a:fillRect l="-98184" t="-51103" r="-41729" b="-133327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3163196" y="0"/>
            <a:ext cx="5124804" cy="2882702"/>
            <a:chOff x="0" y="0"/>
            <a:chExt cx="6089457" cy="3425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089457" cy="3425320"/>
            </a:xfrm>
            <a:custGeom>
              <a:avLst/>
              <a:gdLst/>
              <a:ahLst/>
              <a:cxnLst/>
              <a:rect r="r" b="b" t="t" l="l"/>
              <a:pathLst>
                <a:path h="3425320" w="6089457">
                  <a:moveTo>
                    <a:pt x="6089457" y="3425320"/>
                  </a:moveTo>
                  <a:lnTo>
                    <a:pt x="6089457" y="0"/>
                  </a:lnTo>
                  <a:lnTo>
                    <a:pt x="0" y="0"/>
                  </a:lnTo>
                  <a:cubicBezTo>
                    <a:pt x="2029819" y="1141773"/>
                    <a:pt x="4059638" y="2283546"/>
                    <a:pt x="6089457" y="3425320"/>
                  </a:cubicBezTo>
                  <a:close/>
                </a:path>
              </a:pathLst>
            </a:custGeom>
            <a:solidFill>
              <a:srgbClr val="539BE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089457" cy="3425320"/>
            </a:xfrm>
            <a:custGeom>
              <a:avLst/>
              <a:gdLst/>
              <a:ahLst/>
              <a:cxnLst/>
              <a:rect r="r" b="b" t="t" l="l"/>
              <a:pathLst>
                <a:path h="3425320" w="6089457">
                  <a:moveTo>
                    <a:pt x="6089457" y="3425320"/>
                  </a:moveTo>
                  <a:lnTo>
                    <a:pt x="6089457" y="0"/>
                  </a:lnTo>
                  <a:lnTo>
                    <a:pt x="0" y="0"/>
                  </a:lnTo>
                  <a:cubicBezTo>
                    <a:pt x="2029819" y="1141773"/>
                    <a:pt x="4059638" y="2283546"/>
                    <a:pt x="6089457" y="3425320"/>
                  </a:cubicBezTo>
                  <a:close/>
                </a:path>
              </a:pathLst>
            </a:custGeom>
            <a:blipFill>
              <a:blip r:embed="rId5"/>
              <a:stretch>
                <a:fillRect l="0" t="-5555" r="0" b="-5555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7688177" y="878463"/>
            <a:ext cx="6459655" cy="9160964"/>
          </a:xfrm>
          <a:custGeom>
            <a:avLst/>
            <a:gdLst/>
            <a:ahLst/>
            <a:cxnLst/>
            <a:rect r="r" b="b" t="t" l="l"/>
            <a:pathLst>
              <a:path h="9160964" w="6459655">
                <a:moveTo>
                  <a:pt x="0" y="0"/>
                </a:moveTo>
                <a:lnTo>
                  <a:pt x="6459655" y="0"/>
                </a:lnTo>
                <a:lnTo>
                  <a:pt x="6459655" y="9160964"/>
                </a:lnTo>
                <a:lnTo>
                  <a:pt x="0" y="91609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5831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63283" y="64512"/>
            <a:ext cx="6753819" cy="813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37"/>
              </a:lnSpc>
              <a:spcBef>
                <a:spcPct val="0"/>
              </a:spcBef>
            </a:pPr>
            <a:r>
              <a:rPr lang="en-US" sz="4809" spc="168">
                <a:solidFill>
                  <a:srgbClr val="010101"/>
                </a:solidFill>
                <a:latin typeface="Archivo Black"/>
                <a:ea typeface="Archivo Black"/>
                <a:cs typeface="Archivo Black"/>
                <a:sym typeface="Archivo Black"/>
              </a:rPr>
              <a:t>БИНАРНИ ФАЙЛОВЕ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711277">
            <a:off x="10120802" y="870975"/>
            <a:ext cx="10771889" cy="1140752"/>
          </a:xfrm>
          <a:custGeom>
            <a:avLst/>
            <a:gdLst/>
            <a:ahLst/>
            <a:cxnLst/>
            <a:rect r="r" b="b" t="t" l="l"/>
            <a:pathLst>
              <a:path h="1140752" w="10771889">
                <a:moveTo>
                  <a:pt x="0" y="0"/>
                </a:moveTo>
                <a:lnTo>
                  <a:pt x="10771889" y="0"/>
                </a:lnTo>
                <a:lnTo>
                  <a:pt x="10771889" y="1140752"/>
                </a:lnTo>
                <a:lnTo>
                  <a:pt x="0" y="11407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6495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8949716">
            <a:off x="-2499341" y="8595778"/>
            <a:ext cx="10771889" cy="1140752"/>
          </a:xfrm>
          <a:custGeom>
            <a:avLst/>
            <a:gdLst/>
            <a:ahLst/>
            <a:cxnLst/>
            <a:rect r="r" b="b" t="t" l="l"/>
            <a:pathLst>
              <a:path h="1140752" w="10771889">
                <a:moveTo>
                  <a:pt x="0" y="0"/>
                </a:moveTo>
                <a:lnTo>
                  <a:pt x="10771889" y="0"/>
                </a:lnTo>
                <a:lnTo>
                  <a:pt x="10771889" y="1140752"/>
                </a:lnTo>
                <a:lnTo>
                  <a:pt x="0" y="11407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6495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-46214" y="7839327"/>
            <a:ext cx="4351419" cy="2447673"/>
            <a:chOff x="0" y="0"/>
            <a:chExt cx="6089457" cy="3425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89457" cy="3425320"/>
            </a:xfrm>
            <a:custGeom>
              <a:avLst/>
              <a:gdLst/>
              <a:ahLst/>
              <a:cxnLst/>
              <a:rect r="r" b="b" t="t" l="l"/>
              <a:pathLst>
                <a:path h="3425320" w="6089457">
                  <a:moveTo>
                    <a:pt x="0" y="0"/>
                  </a:moveTo>
                  <a:lnTo>
                    <a:pt x="0" y="3425320"/>
                  </a:lnTo>
                  <a:lnTo>
                    <a:pt x="6089457" y="3425320"/>
                  </a:lnTo>
                  <a:cubicBezTo>
                    <a:pt x="4059638" y="2283546"/>
                    <a:pt x="2029819" y="1141773"/>
                    <a:pt x="0" y="0"/>
                  </a:cubicBezTo>
                  <a:close/>
                </a:path>
              </a:pathLst>
            </a:custGeom>
            <a:solidFill>
              <a:srgbClr val="D94D4D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89457" cy="3425320"/>
            </a:xfrm>
            <a:custGeom>
              <a:avLst/>
              <a:gdLst/>
              <a:ahLst/>
              <a:cxnLst/>
              <a:rect r="r" b="b" t="t" l="l"/>
              <a:pathLst>
                <a:path h="3425320" w="6089457">
                  <a:moveTo>
                    <a:pt x="0" y="0"/>
                  </a:moveTo>
                  <a:lnTo>
                    <a:pt x="0" y="3425320"/>
                  </a:lnTo>
                  <a:lnTo>
                    <a:pt x="6089457" y="3425320"/>
                  </a:lnTo>
                  <a:cubicBezTo>
                    <a:pt x="4059638" y="2283546"/>
                    <a:pt x="2029819" y="1141773"/>
                    <a:pt x="0" y="0"/>
                  </a:cubicBezTo>
                  <a:close/>
                </a:path>
              </a:pathLst>
            </a:custGeom>
            <a:blipFill>
              <a:blip r:embed="rId4"/>
              <a:stretch>
                <a:fillRect l="-98184" t="-51103" r="-41729" b="-133327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3163196" y="0"/>
            <a:ext cx="5124804" cy="2882702"/>
            <a:chOff x="0" y="0"/>
            <a:chExt cx="6089457" cy="3425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089457" cy="3425320"/>
            </a:xfrm>
            <a:custGeom>
              <a:avLst/>
              <a:gdLst/>
              <a:ahLst/>
              <a:cxnLst/>
              <a:rect r="r" b="b" t="t" l="l"/>
              <a:pathLst>
                <a:path h="3425320" w="6089457">
                  <a:moveTo>
                    <a:pt x="6089457" y="3425320"/>
                  </a:moveTo>
                  <a:lnTo>
                    <a:pt x="6089457" y="0"/>
                  </a:lnTo>
                  <a:lnTo>
                    <a:pt x="0" y="0"/>
                  </a:lnTo>
                  <a:cubicBezTo>
                    <a:pt x="2029819" y="1141773"/>
                    <a:pt x="4059638" y="2283546"/>
                    <a:pt x="6089457" y="3425320"/>
                  </a:cubicBezTo>
                  <a:close/>
                </a:path>
              </a:pathLst>
            </a:custGeom>
            <a:solidFill>
              <a:srgbClr val="539BE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089457" cy="3425320"/>
            </a:xfrm>
            <a:custGeom>
              <a:avLst/>
              <a:gdLst/>
              <a:ahLst/>
              <a:cxnLst/>
              <a:rect r="r" b="b" t="t" l="l"/>
              <a:pathLst>
                <a:path h="3425320" w="6089457">
                  <a:moveTo>
                    <a:pt x="6089457" y="3425320"/>
                  </a:moveTo>
                  <a:lnTo>
                    <a:pt x="6089457" y="0"/>
                  </a:lnTo>
                  <a:lnTo>
                    <a:pt x="0" y="0"/>
                  </a:lnTo>
                  <a:cubicBezTo>
                    <a:pt x="2029819" y="1141773"/>
                    <a:pt x="4059638" y="2283546"/>
                    <a:pt x="6089457" y="3425320"/>
                  </a:cubicBezTo>
                  <a:close/>
                </a:path>
              </a:pathLst>
            </a:custGeom>
            <a:blipFill>
              <a:blip r:embed="rId5"/>
              <a:stretch>
                <a:fillRect l="0" t="-5555" r="0" b="-5555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7413532" y="298694"/>
            <a:ext cx="6234908" cy="9780249"/>
          </a:xfrm>
          <a:custGeom>
            <a:avLst/>
            <a:gdLst/>
            <a:ahLst/>
            <a:cxnLst/>
            <a:rect r="r" b="b" t="t" l="l"/>
            <a:pathLst>
              <a:path h="9780249" w="6234908">
                <a:moveTo>
                  <a:pt x="0" y="0"/>
                </a:moveTo>
                <a:lnTo>
                  <a:pt x="6234909" y="0"/>
                </a:lnTo>
                <a:lnTo>
                  <a:pt x="6234909" y="9780249"/>
                </a:lnTo>
                <a:lnTo>
                  <a:pt x="0" y="97802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63283" y="64512"/>
            <a:ext cx="6753819" cy="813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37"/>
              </a:lnSpc>
              <a:spcBef>
                <a:spcPct val="0"/>
              </a:spcBef>
            </a:pPr>
            <a:r>
              <a:rPr lang="en-US" sz="4809" spc="168">
                <a:solidFill>
                  <a:srgbClr val="010101"/>
                </a:solidFill>
                <a:latin typeface="Archivo Black"/>
                <a:ea typeface="Archivo Black"/>
                <a:cs typeface="Archivo Black"/>
                <a:sym typeface="Archivo Black"/>
              </a:rPr>
              <a:t>БИНАРНИ ФАЙЛОВЕ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59420" y="8263127"/>
            <a:ext cx="2799147" cy="440074"/>
          </a:xfrm>
          <a:custGeom>
            <a:avLst/>
            <a:gdLst/>
            <a:ahLst/>
            <a:cxnLst/>
            <a:rect r="r" b="b" t="t" l="l"/>
            <a:pathLst>
              <a:path h="440074" w="2799147">
                <a:moveTo>
                  <a:pt x="0" y="0"/>
                </a:moveTo>
                <a:lnTo>
                  <a:pt x="2799147" y="0"/>
                </a:lnTo>
                <a:lnTo>
                  <a:pt x="2799147" y="440074"/>
                </a:lnTo>
                <a:lnTo>
                  <a:pt x="0" y="4400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5622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659420" y="5607622"/>
            <a:ext cx="2799147" cy="2799147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1270"/>
            </a:xfrm>
            <a:custGeom>
              <a:avLst/>
              <a:gdLst/>
              <a:ahLst/>
              <a:cxnLst/>
              <a:rect r="r" b="b" t="t" l="l"/>
              <a:pathLst>
                <a:path h="6351270" w="635000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3"/>
              <a:stretch>
                <a:fillRect l="-30016" t="0" r="-30016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9659420" y="4799097"/>
            <a:ext cx="2799147" cy="440074"/>
          </a:xfrm>
          <a:custGeom>
            <a:avLst/>
            <a:gdLst/>
            <a:ahLst/>
            <a:cxnLst/>
            <a:rect r="r" b="b" t="t" l="l"/>
            <a:pathLst>
              <a:path h="440074" w="2799147">
                <a:moveTo>
                  <a:pt x="0" y="0"/>
                </a:moveTo>
                <a:lnTo>
                  <a:pt x="2799147" y="0"/>
                </a:lnTo>
                <a:lnTo>
                  <a:pt x="2799147" y="440074"/>
                </a:lnTo>
                <a:lnTo>
                  <a:pt x="0" y="4400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5622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659420" y="2143592"/>
            <a:ext cx="2799147" cy="2799147"/>
            <a:chOff x="0" y="0"/>
            <a:chExt cx="6350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51270"/>
            </a:xfrm>
            <a:custGeom>
              <a:avLst/>
              <a:gdLst/>
              <a:ahLst/>
              <a:cxnLst/>
              <a:rect r="r" b="b" t="t" l="l"/>
              <a:pathLst>
                <a:path h="6351270" w="635000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4"/>
              <a:stretch>
                <a:fillRect l="-24991" t="0" r="-24991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179183" y="6826068"/>
            <a:ext cx="6851587" cy="1077187"/>
          </a:xfrm>
          <a:custGeom>
            <a:avLst/>
            <a:gdLst/>
            <a:ahLst/>
            <a:cxnLst/>
            <a:rect r="r" b="b" t="t" l="l"/>
            <a:pathLst>
              <a:path h="1077187" w="6851587">
                <a:moveTo>
                  <a:pt x="0" y="0"/>
                </a:moveTo>
                <a:lnTo>
                  <a:pt x="6851587" y="0"/>
                </a:lnTo>
                <a:lnTo>
                  <a:pt x="6851587" y="1077187"/>
                </a:lnTo>
                <a:lnTo>
                  <a:pt x="0" y="1077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5622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240447" y="3594570"/>
            <a:ext cx="6790323" cy="3819509"/>
            <a:chOff x="0" y="0"/>
            <a:chExt cx="1128903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287760" cy="6350000"/>
            </a:xfrm>
            <a:custGeom>
              <a:avLst/>
              <a:gdLst/>
              <a:ahLst/>
              <a:cxnLst/>
              <a:rect r="r" b="b" t="t" l="l"/>
              <a:pathLst>
                <a:path h="6350000" w="11287760">
                  <a:moveTo>
                    <a:pt x="0" y="5824220"/>
                  </a:moveTo>
                  <a:lnTo>
                    <a:pt x="0" y="525780"/>
                  </a:lnTo>
                  <a:cubicBezTo>
                    <a:pt x="0" y="234950"/>
                    <a:pt x="234950" y="0"/>
                    <a:pt x="525780" y="0"/>
                  </a:cubicBezTo>
                  <a:lnTo>
                    <a:pt x="10761980" y="0"/>
                  </a:lnTo>
                  <a:cubicBezTo>
                    <a:pt x="11052810" y="0"/>
                    <a:pt x="11287760" y="234950"/>
                    <a:pt x="11287760" y="525780"/>
                  </a:cubicBezTo>
                  <a:lnTo>
                    <a:pt x="11287760" y="5822950"/>
                  </a:lnTo>
                  <a:cubicBezTo>
                    <a:pt x="11287760" y="6113780"/>
                    <a:pt x="11052810" y="6348730"/>
                    <a:pt x="10761980" y="6348730"/>
                  </a:cubicBezTo>
                  <a:lnTo>
                    <a:pt x="525780" y="6348730"/>
                  </a:lnTo>
                  <a:cubicBezTo>
                    <a:pt x="236220" y="6350000"/>
                    <a:pt x="0" y="6115050"/>
                    <a:pt x="0" y="5824220"/>
                  </a:cubicBezTo>
                  <a:close/>
                </a:path>
              </a:pathLst>
            </a:custGeom>
            <a:blipFill>
              <a:blip r:embed="rId5"/>
              <a:stretch>
                <a:fillRect l="0" t="-83513" r="0" b="-83513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521025" y="4635815"/>
            <a:ext cx="6229167" cy="948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92"/>
              </a:lnSpc>
              <a:spcBef>
                <a:spcPct val="0"/>
              </a:spcBef>
            </a:pPr>
            <a:r>
              <a:rPr lang="en-US" sz="557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БЛАГОДАРЯ!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2924060" y="9846926"/>
            <a:ext cx="2799147" cy="440074"/>
          </a:xfrm>
          <a:custGeom>
            <a:avLst/>
            <a:gdLst/>
            <a:ahLst/>
            <a:cxnLst/>
            <a:rect r="r" b="b" t="t" l="l"/>
            <a:pathLst>
              <a:path h="440074" w="2799147">
                <a:moveTo>
                  <a:pt x="0" y="0"/>
                </a:moveTo>
                <a:lnTo>
                  <a:pt x="2799146" y="0"/>
                </a:lnTo>
                <a:lnTo>
                  <a:pt x="2799146" y="440074"/>
                </a:lnTo>
                <a:lnTo>
                  <a:pt x="0" y="4400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5622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2924060" y="7191421"/>
            <a:ext cx="2799147" cy="2799147"/>
            <a:chOff x="0" y="0"/>
            <a:chExt cx="63500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6351270"/>
            </a:xfrm>
            <a:custGeom>
              <a:avLst/>
              <a:gdLst/>
              <a:ahLst/>
              <a:cxnLst/>
              <a:rect r="r" b="b" t="t" l="l"/>
              <a:pathLst>
                <a:path h="6351270" w="635000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6"/>
              <a:stretch>
                <a:fillRect l="-25155" t="0" r="-25155" b="0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2924060" y="6382896"/>
            <a:ext cx="2799147" cy="440074"/>
          </a:xfrm>
          <a:custGeom>
            <a:avLst/>
            <a:gdLst/>
            <a:ahLst/>
            <a:cxnLst/>
            <a:rect r="r" b="b" t="t" l="l"/>
            <a:pathLst>
              <a:path h="440074" w="2799147">
                <a:moveTo>
                  <a:pt x="0" y="0"/>
                </a:moveTo>
                <a:lnTo>
                  <a:pt x="2799146" y="0"/>
                </a:lnTo>
                <a:lnTo>
                  <a:pt x="2799146" y="440074"/>
                </a:lnTo>
                <a:lnTo>
                  <a:pt x="0" y="4400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5622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2924060" y="3727391"/>
            <a:ext cx="2799147" cy="2799147"/>
            <a:chOff x="0" y="0"/>
            <a:chExt cx="6350000" cy="635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50000" cy="6351270"/>
            </a:xfrm>
            <a:custGeom>
              <a:avLst/>
              <a:gdLst/>
              <a:ahLst/>
              <a:cxnLst/>
              <a:rect r="r" b="b" t="t" l="l"/>
              <a:pathLst>
                <a:path h="6351270" w="635000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4"/>
              <a:stretch>
                <a:fillRect l="-24991" t="0" r="-24991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12924060" y="2915843"/>
            <a:ext cx="2799147" cy="440074"/>
          </a:xfrm>
          <a:custGeom>
            <a:avLst/>
            <a:gdLst/>
            <a:ahLst/>
            <a:cxnLst/>
            <a:rect r="r" b="b" t="t" l="l"/>
            <a:pathLst>
              <a:path h="440074" w="2799147">
                <a:moveTo>
                  <a:pt x="0" y="0"/>
                </a:moveTo>
                <a:lnTo>
                  <a:pt x="2799146" y="0"/>
                </a:lnTo>
                <a:lnTo>
                  <a:pt x="2799146" y="440073"/>
                </a:lnTo>
                <a:lnTo>
                  <a:pt x="0" y="4400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5622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2924060" y="260338"/>
            <a:ext cx="2799147" cy="2799147"/>
            <a:chOff x="0" y="0"/>
            <a:chExt cx="6350000" cy="6350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350000" cy="6351270"/>
            </a:xfrm>
            <a:custGeom>
              <a:avLst/>
              <a:gdLst/>
              <a:ahLst/>
              <a:cxnLst/>
              <a:rect r="r" b="b" t="t" l="l"/>
              <a:pathLst>
                <a:path h="6351270" w="635000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7"/>
              <a:stretch>
                <a:fillRect l="-24991" t="0" r="-24991" b="0"/>
              </a:stretch>
            </a:blip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16189931" y="7929174"/>
            <a:ext cx="2799147" cy="440074"/>
          </a:xfrm>
          <a:custGeom>
            <a:avLst/>
            <a:gdLst/>
            <a:ahLst/>
            <a:cxnLst/>
            <a:rect r="r" b="b" t="t" l="l"/>
            <a:pathLst>
              <a:path h="440074" w="2799147">
                <a:moveTo>
                  <a:pt x="0" y="0"/>
                </a:moveTo>
                <a:lnTo>
                  <a:pt x="2799147" y="0"/>
                </a:lnTo>
                <a:lnTo>
                  <a:pt x="2799147" y="440073"/>
                </a:lnTo>
                <a:lnTo>
                  <a:pt x="0" y="4400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5622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6189931" y="5273669"/>
            <a:ext cx="2799147" cy="2799147"/>
            <a:chOff x="0" y="0"/>
            <a:chExt cx="6350000" cy="6350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350000" cy="6351270"/>
            </a:xfrm>
            <a:custGeom>
              <a:avLst/>
              <a:gdLst/>
              <a:ahLst/>
              <a:cxnLst/>
              <a:rect r="r" b="b" t="t" l="l"/>
              <a:pathLst>
                <a:path h="6351270" w="635000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8"/>
              <a:stretch>
                <a:fillRect l="0" t="-24985" r="0" b="-24985"/>
              </a:stretch>
            </a:blip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16189931" y="4465144"/>
            <a:ext cx="2799147" cy="440074"/>
          </a:xfrm>
          <a:custGeom>
            <a:avLst/>
            <a:gdLst/>
            <a:ahLst/>
            <a:cxnLst/>
            <a:rect r="r" b="b" t="t" l="l"/>
            <a:pathLst>
              <a:path h="440074" w="2799147">
                <a:moveTo>
                  <a:pt x="0" y="0"/>
                </a:moveTo>
                <a:lnTo>
                  <a:pt x="2799147" y="0"/>
                </a:lnTo>
                <a:lnTo>
                  <a:pt x="2799147" y="440073"/>
                </a:lnTo>
                <a:lnTo>
                  <a:pt x="0" y="4400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5622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6189931" y="1809639"/>
            <a:ext cx="2799147" cy="2799147"/>
            <a:chOff x="0" y="0"/>
            <a:chExt cx="6350000" cy="6350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350000" cy="6351270"/>
            </a:xfrm>
            <a:custGeom>
              <a:avLst/>
              <a:gdLst/>
              <a:ahLst/>
              <a:cxnLst/>
              <a:rect r="r" b="b" t="t" l="l"/>
              <a:pathLst>
                <a:path h="6351270" w="635000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9"/>
              <a:stretch>
                <a:fillRect l="-25015" t="0" r="-25015" b="0"/>
              </a:stretch>
            </a:blipFill>
          </p:spPr>
        </p:sp>
      </p:grpSp>
      <p:sp>
        <p:nvSpPr>
          <p:cNvPr name="Freeform 27" id="27"/>
          <p:cNvSpPr/>
          <p:nvPr/>
        </p:nvSpPr>
        <p:spPr>
          <a:xfrm flipH="false" flipV="false" rot="0">
            <a:off x="16189931" y="998090"/>
            <a:ext cx="2799147" cy="440074"/>
          </a:xfrm>
          <a:custGeom>
            <a:avLst/>
            <a:gdLst/>
            <a:ahLst/>
            <a:cxnLst/>
            <a:rect r="r" b="b" t="t" l="l"/>
            <a:pathLst>
              <a:path h="440074" w="2799147">
                <a:moveTo>
                  <a:pt x="0" y="0"/>
                </a:moveTo>
                <a:lnTo>
                  <a:pt x="2799147" y="0"/>
                </a:lnTo>
                <a:lnTo>
                  <a:pt x="2799147" y="440074"/>
                </a:lnTo>
                <a:lnTo>
                  <a:pt x="0" y="4400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5622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16189931" y="-1657415"/>
            <a:ext cx="2799147" cy="2799147"/>
            <a:chOff x="0" y="0"/>
            <a:chExt cx="6350000" cy="6350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350000" cy="6351270"/>
            </a:xfrm>
            <a:custGeom>
              <a:avLst/>
              <a:gdLst/>
              <a:ahLst/>
              <a:cxnLst/>
              <a:rect r="r" b="b" t="t" l="l"/>
              <a:pathLst>
                <a:path h="6351270" w="635000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3"/>
              <a:stretch>
                <a:fillRect l="-30016" t="0" r="-30016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6189931" y="8703201"/>
            <a:ext cx="2799147" cy="2799147"/>
            <a:chOff x="0" y="0"/>
            <a:chExt cx="6350000" cy="6350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350000" cy="6351270"/>
            </a:xfrm>
            <a:custGeom>
              <a:avLst/>
              <a:gdLst/>
              <a:ahLst/>
              <a:cxnLst/>
              <a:rect r="r" b="b" t="t" l="l"/>
              <a:pathLst>
                <a:path h="6351270" w="635000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5"/>
              <a:stretch>
                <a:fillRect l="0" t="-25078" r="0" b="-25078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2427069" y="5881881"/>
            <a:ext cx="6417079" cy="580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ас. инж. Антонио Димитров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DAGjxN1-JI8</dc:identifier>
  <dcterms:modified xsi:type="dcterms:W3CDTF">2011-08-01T06:04:30Z</dcterms:modified>
  <cp:revision>1</cp:revision>
  <dc:title>Copy of ЛУ8-БГ</dc:title>
</cp:coreProperties>
</file>